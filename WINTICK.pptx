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7" r:id="rId13"/>
    <p:sldId id="268" r:id="rId14"/>
    <p:sldId id="269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  <a:srgbClr val="9648F3"/>
    <a:srgbClr val="52525B"/>
    <a:srgbClr val="E54AA3"/>
    <a:srgbClr val="D977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47"/>
    <p:restoredTop sz="88651"/>
  </p:normalViewPr>
  <p:slideViewPr>
    <p:cSldViewPr snapToGrid="0" snapToObjects="1">
      <p:cViewPr>
        <p:scale>
          <a:sx n="111" d="100"/>
          <a:sy n="111" d="100"/>
        </p:scale>
        <p:origin x="101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352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D3617-AE78-204D-A78C-3CFF9CEB2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B521C-9CE1-C0CE-2AF4-892B55ED31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CBDE2-083E-0D16-457A-C4A8954AF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DEB25-0F8A-1F06-103E-0DB1E6375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69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5ABA0-CE0E-ED8C-CB71-FD95F123F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C4FDE-2C32-1678-9044-BF54D9D75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B4F56C-2BEB-B940-6C85-D3D0AC516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BF778-C08A-AFC3-7687-64A127A59C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521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113D0F47-59D3-9A08-CD87-C708984FA48E}"/>
              </a:ext>
            </a:extLst>
          </p:cNvPr>
          <p:cNvSpPr/>
          <p:nvPr userDrawn="1"/>
        </p:nvSpPr>
        <p:spPr>
          <a:xfrm>
            <a:off x="548640" y="1417320"/>
            <a:ext cx="1097280" cy="0"/>
          </a:xfrm>
          <a:prstGeom prst="line">
            <a:avLst/>
          </a:prstGeom>
          <a:noFill/>
          <a:ln w="25400">
            <a:solidFill>
              <a:srgbClr val="E54AA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671F797-24F3-F430-FEFB-8DDB90F99D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3715" b="33476"/>
          <a:stretch>
            <a:fillRect/>
          </a:stretch>
        </p:blipFill>
        <p:spPr>
          <a:xfrm>
            <a:off x="8997043" y="0"/>
            <a:ext cx="3194957" cy="104825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7070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20040" cy="32004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39783" y="1436914"/>
            <a:ext cx="11094415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 b="1" kern="0" spc="400">
                <a:solidFill>
                  <a:srgbClr val="52525B"/>
                </a:solidFill>
                <a:latin typeface="Helvetica Neue"/>
                <a:ea typeface="Helvetica Neue"/>
                <a:cs typeface="Helvetica Neue" pitchFamily="34" charset="-120"/>
              </a:rPr>
              <a:t>SYSTEMS DEVELOPMENT </a:t>
            </a:r>
            <a:endParaRPr lang="en-US" sz="1100" b="1" kern="0" spc="400">
              <a:solidFill>
                <a:srgbClr val="52525B"/>
              </a:solidFill>
              <a:latin typeface="Helvetica Neue"/>
            </a:endParaRPr>
          </a:p>
        </p:txBody>
      </p:sp>
      <p:sp>
        <p:nvSpPr>
          <p:cNvPr id="4" name="Text 2"/>
          <p:cNvSpPr/>
          <p:nvPr/>
        </p:nvSpPr>
        <p:spPr>
          <a:xfrm>
            <a:off x="439783" y="2022566"/>
            <a:ext cx="11094415" cy="3200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6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</a:t>
            </a:r>
            <a:endParaRPr lang="en-US" sz="6400" dirty="0"/>
          </a:p>
          <a:p>
            <a:pPr marL="0" indent="0">
              <a:buNone/>
            </a:pPr>
            <a:r>
              <a:rPr lang="en-US" sz="6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Request Management</a:t>
            </a:r>
            <a:endParaRPr lang="en-US" sz="6400" dirty="0"/>
          </a:p>
          <a:p>
            <a:pPr marL="0" indent="0">
              <a:buNone/>
            </a:pPr>
            <a:r>
              <a:rPr lang="en-US" sz="6400" b="1">
                <a:solidFill>
                  <a:srgbClr val="0F172A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System</a:t>
            </a:r>
            <a:endParaRPr lang="en-US" sz="6400">
              <a:latin typeface="Helvetica Neue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1371600" cy="0"/>
          </a:xfrm>
          <a:prstGeom prst="line">
            <a:avLst/>
          </a:prstGeom>
          <a:noFill/>
          <a:ln w="254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39783" y="534488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small Java web app that turns internal service emails into a single, accountable queue.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351" y="6100813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Kaan </a:t>
            </a:r>
            <a:r>
              <a:rPr lang="en-US" sz="1200" b="1" err="1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Apaydin</a:t>
            </a:r>
            <a:r>
              <a:rPr lang="en-US" sz="1200" b="1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sz="12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</a:t>
            </a:r>
            <a:r>
              <a:rPr lang="en-US" sz="1200" b="1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Melvin </a:t>
            </a:r>
            <a:r>
              <a:rPr lang="en-US" sz="1200" b="1" err="1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Borse</a:t>
            </a:r>
            <a:r>
              <a:rPr lang="en-US" sz="12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·  </a:t>
            </a:r>
            <a:r>
              <a:rPr lang="en-US" sz="1200" b="1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Patricia </a:t>
            </a:r>
            <a:r>
              <a:rPr lang="en-US" sz="1200" b="1" err="1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Grigoret</a:t>
            </a:r>
            <a:r>
              <a:rPr lang="en-US" sz="12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·  </a:t>
            </a:r>
            <a:r>
              <a:rPr lang="en-US" sz="1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Kevin Queckboerner</a:t>
            </a:r>
            <a:endParaRPr lang="en-US" sz="12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A8C828F-67FF-8CF1-C585-D7F8D0C9C0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08" t="104762" r="23448" b="-21089"/>
          <a:stretch>
            <a:fillRect/>
          </a:stretch>
        </p:blipFill>
        <p:spPr>
          <a:xfrm>
            <a:off x="8418786" y="204994"/>
            <a:ext cx="3168942" cy="7248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00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AGENDA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Seven sections · 15 minutes · live demo at the center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5854" y="277095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07374" y="277095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5854" y="354819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75854" y="354819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07374" y="354819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 &amp; key features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5854" y="432543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75854" y="432543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307374" y="432543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&amp; OO design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5854" y="510267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75854" y="510267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307374" y="510267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36574" y="277095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068094" y="277095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 management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36574" y="354819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6336574" y="354819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068094" y="354819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benefits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36574" y="432543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336574" y="432543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07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068094" y="432543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Q&amp;A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336574" y="510267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34">
            <a:extLst>
              <a:ext uri="{FF2B5EF4-FFF2-40B4-BE49-F238E27FC236}">
                <a16:creationId xmlns:a16="http://schemas.microsoft.com/office/drawing/2014/main" id="{C918843B-E70C-AB86-8C11-3833D474B072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02</a:t>
            </a:r>
            <a:endParaRPr lang="en-US" sz="900">
              <a:latin typeface="Helvetica Neue"/>
            </a:endParaRPr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FDB95A56-83D8-5E78-7953-C0210E4DE6C1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Today's Overview</a:t>
            </a:r>
            <a:endParaRPr lang="en-US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18DB795A-FC47-F4A2-F6D5-A16A135CEB64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>
              <a:solidFill>
                <a:srgbClr val="52525B"/>
              </a:solidFill>
              <a:latin typeface="Helvetica Neue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997" y="3208563"/>
            <a:ext cx="3611880" cy="2707822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768531" y="3423557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4000" b="1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1317" y="412187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latin typeface="Helvetica Neue"/>
                <a:ea typeface="Helvetica Neue" pitchFamily="34" charset="-122"/>
                <a:cs typeface="Helvetica Neue" pitchFamily="34" charset="-120"/>
              </a:rPr>
              <a:t>Lost in inboxes</a:t>
            </a:r>
            <a:endParaRPr lang="en-US" sz="1800" b="1">
              <a:latin typeface="Helvetica Neue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41317" y="4475116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2525B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Requests get buried under daily mail. Nobody knows what is open, what is done, or what was forgotten.</a:t>
            </a:r>
            <a:endParaRPr lang="en-US" sz="1300">
              <a:latin typeface="Helvetica Neue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16255" y="3208563"/>
            <a:ext cx="3652701" cy="2707822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504182" y="3423557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04182" y="4121875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lifecycle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04182" y="4352653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52525B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Without explicit states, two agents may work the same ticket or none at all.</a:t>
            </a:r>
            <a:endParaRPr lang="en-US" sz="1300">
              <a:latin typeface="Helvetica Neue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19941" y="3208563"/>
            <a:ext cx="3625487" cy="2707822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8294261" y="3423557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94261" y="4094661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SLA visibility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94261" y="4352653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52525B"/>
                </a:solidFill>
                <a:latin typeface="Helvetica Neue"/>
              </a:rPr>
              <a:t>Managers cannot see which tickets are about to breach service-level expectations.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ADCCB1B8-52D2-CF21-E1A8-38110322D34A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Why email-based requests become a problem</a:t>
            </a:r>
            <a:endParaRPr lang="en-US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8BE556B1-38CE-6F1C-88DA-56143BB9686D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Emails make requests difficult to track, assign, and manage efficiently.</a:t>
            </a:r>
            <a:endParaRPr lang="en-US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A68AF3E7-81F1-E93F-D995-0743FFDAAE72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32" name="Text 34">
            <a:extLst>
              <a:ext uri="{FF2B5EF4-FFF2-40B4-BE49-F238E27FC236}">
                <a16:creationId xmlns:a16="http://schemas.microsoft.com/office/drawing/2014/main" id="{168ED882-8C5B-95EE-A408-642F6A8F3707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03</a:t>
            </a:r>
            <a:endParaRPr lang="en-US" sz="900">
              <a:latin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SOLUTION &amp; KEY FEATURES</a:t>
            </a:r>
            <a:endParaRPr lang="en-US" sz="1100" dirty="0"/>
          </a:p>
        </p:txBody>
      </p: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E885B269-29EE-149E-D002-D40C2783D448}"/>
              </a:ext>
            </a:extLst>
          </p:cNvPr>
          <p:cNvGrpSpPr/>
          <p:nvPr/>
        </p:nvGrpSpPr>
        <p:grpSpPr>
          <a:xfrm>
            <a:off x="548640" y="2891188"/>
            <a:ext cx="10972800" cy="3200400"/>
            <a:chOff x="548640" y="3383280"/>
            <a:chExt cx="10972800" cy="3200400"/>
          </a:xfrm>
        </p:grpSpPr>
        <p:sp>
          <p:nvSpPr>
            <p:cNvPr id="7" name="Text 5"/>
            <p:cNvSpPr/>
            <p:nvPr/>
          </p:nvSpPr>
          <p:spPr>
            <a:xfrm>
              <a:off x="548640" y="3383280"/>
              <a:ext cx="5212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kern="0" spc="300">
                  <a:solidFill>
                    <a:srgbClr val="52525B"/>
                  </a:solidFill>
                  <a:latin typeface="Helvetica Neue"/>
                </a:rPr>
                <a:t>From the user</a:t>
              </a:r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6309360" y="3383280"/>
              <a:ext cx="52120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kern="0" spc="300">
                  <a:solidFill>
                    <a:srgbClr val="9648F3"/>
                  </a:solidFill>
                  <a:latin typeface="Helvetica Neue"/>
                </a:rPr>
                <a:t>How we built it</a:t>
              </a:r>
              <a:endParaRPr lang="en-US"/>
            </a:p>
          </p:txBody>
        </p:sp>
        <p:sp>
          <p:nvSpPr>
            <p:cNvPr id="9" name="Shape 7"/>
            <p:cNvSpPr/>
            <p:nvPr/>
          </p:nvSpPr>
          <p:spPr>
            <a:xfrm>
              <a:off x="548640" y="3749040"/>
              <a:ext cx="5212080" cy="0"/>
            </a:xfrm>
            <a:prstGeom prst="line">
              <a:avLst/>
            </a:prstGeom>
            <a:noFill/>
            <a:ln w="12700">
              <a:solidFill>
                <a:srgbClr val="52525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Shape 8"/>
            <p:cNvSpPr/>
            <p:nvPr/>
          </p:nvSpPr>
          <p:spPr>
            <a:xfrm>
              <a:off x="6309360" y="3749040"/>
              <a:ext cx="5212080" cy="0"/>
            </a:xfrm>
            <a:prstGeom prst="line">
              <a:avLst/>
            </a:prstGeom>
            <a:noFill/>
            <a:ln w="12700">
              <a:solidFill>
                <a:srgbClr val="E54AA3"/>
              </a:solidFill>
              <a:prstDash val="solid"/>
            </a:ln>
          </p:spPr>
          <p:txBody>
            <a:bodyPr/>
            <a:lstStyle/>
            <a:p>
              <a:endParaRPr lang="de-DE">
                <a:solidFill>
                  <a:srgbClr val="9648F3"/>
                </a:solidFill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548640" y="393192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A1A1A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•</a:t>
              </a:r>
              <a:endParaRPr lang="en-US" sz="1400"/>
            </a:p>
          </p:txBody>
        </p:sp>
        <p:sp>
          <p:nvSpPr>
            <p:cNvPr id="12" name="Text 10"/>
            <p:cNvSpPr/>
            <p:nvPr/>
          </p:nvSpPr>
          <p:spPr>
            <a:xfrm>
              <a:off x="777240" y="3931920"/>
              <a:ext cx="4983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Login with role-based access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6309360" y="3931920"/>
              <a:ext cx="274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→</a:t>
              </a:r>
              <a:endParaRPr lang="en-US" sz="1300">
                <a:solidFill>
                  <a:srgbClr val="9648F3"/>
                </a:solidFill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6629400" y="3931920"/>
              <a:ext cx="4892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err="1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AuthService</a:t>
              </a:r>
              <a:r>
                <a:rPr lang="en-US" sz="1300">
                  <a:solidFill>
                    <a:srgbClr val="52525B"/>
                  </a:solidFill>
                  <a:ea typeface="Helvetica Neue" pitchFamily="34" charset="-122"/>
                </a:rPr>
                <a:t> + abstract User hierarchy</a:t>
              </a:r>
            </a:p>
          </p:txBody>
        </p:sp>
        <p:sp>
          <p:nvSpPr>
            <p:cNvPr id="15" name="Text 13"/>
            <p:cNvSpPr/>
            <p:nvPr/>
          </p:nvSpPr>
          <p:spPr>
            <a:xfrm>
              <a:off x="548640" y="438912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A1A1A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•</a:t>
              </a:r>
              <a:endParaRPr lang="en-US" sz="1400"/>
            </a:p>
          </p:txBody>
        </p:sp>
        <p:sp>
          <p:nvSpPr>
            <p:cNvPr id="16" name="Text 14"/>
            <p:cNvSpPr/>
            <p:nvPr/>
          </p:nvSpPr>
          <p:spPr>
            <a:xfrm>
              <a:off x="777240" y="4389120"/>
              <a:ext cx="4983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Submit, comment, close requests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6309360" y="4389120"/>
              <a:ext cx="274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→</a:t>
              </a:r>
              <a:endParaRPr lang="en-US" sz="1300">
                <a:solidFill>
                  <a:srgbClr val="9648F3"/>
                </a:solidFill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629400" y="4389120"/>
              <a:ext cx="4892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Domain methods on Request enforce invariants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548640" y="484632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A1A1A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•</a:t>
              </a:r>
              <a:endParaRPr lang="en-US" sz="1400"/>
            </a:p>
          </p:txBody>
        </p:sp>
        <p:sp>
          <p:nvSpPr>
            <p:cNvPr id="20" name="Text 18"/>
            <p:cNvSpPr/>
            <p:nvPr/>
          </p:nvSpPr>
          <p:spPr>
            <a:xfrm>
              <a:off x="777240" y="4846320"/>
              <a:ext cx="4983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Six-state lifecycle with rules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6309360" y="4846320"/>
              <a:ext cx="274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→</a:t>
              </a:r>
              <a:endParaRPr lang="en-US" sz="1300">
                <a:solidFill>
                  <a:srgbClr val="9648F3"/>
                </a:solidFill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6629400" y="4846320"/>
              <a:ext cx="4892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Immutable ALLOWED_TRANSITIONS map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548640" y="530352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A1A1A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•</a:t>
              </a:r>
              <a:endParaRPr lang="en-US" sz="1400"/>
            </a:p>
          </p:txBody>
        </p:sp>
        <p:sp>
          <p:nvSpPr>
            <p:cNvPr id="24" name="Text 22"/>
            <p:cNvSpPr/>
            <p:nvPr/>
          </p:nvSpPr>
          <p:spPr>
            <a:xfrm>
              <a:off x="777240" y="5303520"/>
              <a:ext cx="4983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SLA deadline per priority level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6309360" y="5303520"/>
              <a:ext cx="274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→</a:t>
              </a:r>
              <a:endParaRPr lang="en-US" sz="1300">
                <a:solidFill>
                  <a:srgbClr val="9648F3"/>
                </a:solidFill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6629400" y="5303520"/>
              <a:ext cx="4892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Enum carries SLA hours; </a:t>
              </a:r>
              <a:r>
                <a:rPr lang="en-US" sz="1300" err="1">
                  <a:solidFill>
                    <a:srgbClr val="52525B"/>
                  </a:solidFill>
                  <a:ea typeface="Helvetica Neue" pitchFamily="34" charset="-122"/>
                </a:rPr>
                <a:t>isOverdue</a:t>
              </a:r>
              <a:r>
                <a:rPr lang="en-US" sz="1300">
                  <a:solidFill>
                    <a:srgbClr val="52525B"/>
                  </a:solidFill>
                  <a:ea typeface="Helvetica Neue" pitchFamily="34" charset="-122"/>
                </a:rPr>
                <a:t>() computes risk</a:t>
              </a:r>
            </a:p>
          </p:txBody>
        </p:sp>
        <p:sp>
          <p:nvSpPr>
            <p:cNvPr id="27" name="Text 25"/>
            <p:cNvSpPr/>
            <p:nvPr/>
          </p:nvSpPr>
          <p:spPr>
            <a:xfrm>
              <a:off x="548640" y="576072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A1A1A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•</a:t>
              </a:r>
              <a:endParaRPr lang="en-US" sz="1400"/>
            </a:p>
          </p:txBody>
        </p:sp>
        <p:sp>
          <p:nvSpPr>
            <p:cNvPr id="28" name="Text 26"/>
            <p:cNvSpPr/>
            <p:nvPr/>
          </p:nvSpPr>
          <p:spPr>
            <a:xfrm>
              <a:off x="777240" y="5760720"/>
              <a:ext cx="4983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Role-filtered request lists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6309360" y="5760720"/>
              <a:ext cx="274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→</a:t>
              </a:r>
              <a:endParaRPr lang="en-US" sz="1300">
                <a:solidFill>
                  <a:srgbClr val="9648F3"/>
                </a:solidFill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6629400" y="5760720"/>
              <a:ext cx="4892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Service-layer authorization, not just UI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548640" y="6217920"/>
              <a:ext cx="2286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A1A1A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•</a:t>
              </a:r>
              <a:endParaRPr lang="en-US" sz="1400"/>
            </a:p>
          </p:txBody>
        </p:sp>
        <p:sp>
          <p:nvSpPr>
            <p:cNvPr id="32" name="Text 30"/>
            <p:cNvSpPr/>
            <p:nvPr/>
          </p:nvSpPr>
          <p:spPr>
            <a:xfrm>
              <a:off x="777240" y="6217920"/>
              <a:ext cx="49834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Persistent state across restarts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6309360" y="6217920"/>
              <a:ext cx="274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→</a:t>
              </a:r>
              <a:endParaRPr lang="en-US" sz="1300">
                <a:solidFill>
                  <a:srgbClr val="9648F3"/>
                </a:solidFill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6629400" y="6217920"/>
              <a:ext cx="48920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/>
                  <a:ea typeface="Helvetica Neue" pitchFamily="34" charset="-122"/>
                </a:rPr>
                <a:t>SQLite via JDBC + Repository interfaces</a:t>
              </a:r>
              <a:endParaRPr lang="en-US" sz="1300">
                <a:solidFill>
                  <a:srgbClr val="52525B"/>
                </a:solidFill>
                <a:ea typeface="Helvetica Neue" pitchFamily="34" charset="-122"/>
              </a:endParaRPr>
            </a:p>
          </p:txBody>
        </p:sp>
      </p:grpSp>
      <p:sp>
        <p:nvSpPr>
          <p:cNvPr id="38" name="Text 3">
            <a:extLst>
              <a:ext uri="{FF2B5EF4-FFF2-40B4-BE49-F238E27FC236}">
                <a16:creationId xmlns:a16="http://schemas.microsoft.com/office/drawing/2014/main" id="{80A0B944-3F69-8A35-FF15-2D039D8DAF59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A centralized system for handling service requests</a:t>
            </a:r>
            <a:endParaRPr lang="en-US"/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231B0E44-A57C-5575-8594-68293867B3E8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Our system creates one shared workflow for employees, agents, and managers.</a:t>
            </a:r>
            <a:endParaRPr lang="en-US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C01EE679-4428-9E3B-0847-418FC5C84A37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43" name="Text 34">
            <a:extLst>
              <a:ext uri="{FF2B5EF4-FFF2-40B4-BE49-F238E27FC236}">
                <a16:creationId xmlns:a16="http://schemas.microsoft.com/office/drawing/2014/main" id="{A4AEA5C4-A971-0ABF-CBDB-6148E8642DAA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04</a:t>
            </a:r>
            <a:endParaRPr lang="en-US" sz="900">
              <a:latin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&amp; OO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System architecture and package structure</a:t>
            </a:r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01883" y="2689642"/>
            <a:ext cx="822960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2001883" y="2689642"/>
            <a:ext cx="73152" cy="64008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276203" y="268964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65667" y="268964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Javalin routes &amp; HTML rendering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79523" y="332972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01883" y="3439450"/>
            <a:ext cx="822960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2001883" y="3439450"/>
            <a:ext cx="73152" cy="64008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76203" y="343945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service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33703" y="3493879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Authorization &amp; orchestration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79523" y="407953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01883" y="4189258"/>
            <a:ext cx="822960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2001883" y="4189258"/>
            <a:ext cx="73152" cy="64008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2276203" y="418925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repository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02382" y="4243687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Persistence </a:t>
            </a:r>
            <a:r>
              <a:rPr lang="en-US" sz="130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</a:t>
            </a:r>
            <a:r>
              <a:rPr lang="en-US" sz="1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interfaces + SQLite impls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79523" y="482933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01883" y="4939066"/>
            <a:ext cx="822960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2001883" y="4939066"/>
            <a:ext cx="73152" cy="64008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2276203" y="4939066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domain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02382" y="4939066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Real-world classes, enums, state machine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66611" y="354003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+ exceptions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66611" y="386007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cross-cutting,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used by all layers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0669" y="5683540"/>
            <a:ext cx="12053207" cy="6906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 Responsibility at the package level.  </a:t>
            </a:r>
            <a:r>
              <a:rPr lang="en-US" sz="1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Domain knows nothing of the database. Database knows nothing of HTTP. Web knows nothing of SQL.</a:t>
            </a:r>
            <a:endParaRPr lang="en-US" sz="13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74C6B9EB-CA33-D7A8-E2F5-0202FC856225}"/>
              </a:ext>
            </a:extLst>
          </p:cNvPr>
          <p:cNvSpPr/>
          <p:nvPr/>
        </p:nvSpPr>
        <p:spPr>
          <a:xfrm>
            <a:off x="548640" y="2333897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The app is separated into layers with clear responsibilities.</a:t>
            </a:r>
            <a:endParaRPr lang="en-US"/>
          </a:p>
          <a:p>
            <a:pPr marL="0" indent="0">
              <a:buNone/>
            </a:pPr>
            <a:endParaRPr lang="en-US" sz="1400">
              <a:solidFill>
                <a:srgbClr val="52525B"/>
              </a:solidFill>
              <a:latin typeface="Helvetica Neue"/>
            </a:endParaRPr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CA8EBE47-22FA-1328-EC95-B52693037FC6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05</a:t>
            </a:r>
            <a:endParaRPr lang="en-US" sz="900">
              <a:latin typeface="Helvetica Neue"/>
            </a:endParaRPr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0C2FCE41-C9C4-6762-8EB3-DFFF29E1AC78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· REQUEST FLOW</a:t>
            </a:r>
            <a:endParaRPr lang="en-US" sz="1100" dirty="0"/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5F4CC4ED-FDDE-40E3-AB17-4C90A9A4CC0A}"/>
              </a:ext>
            </a:extLst>
          </p:cNvPr>
          <p:cNvGrpSpPr/>
          <p:nvPr/>
        </p:nvGrpSpPr>
        <p:grpSpPr>
          <a:xfrm>
            <a:off x="640080" y="2598894"/>
            <a:ext cx="11002975" cy="3344706"/>
            <a:chOff x="640080" y="2598894"/>
            <a:chExt cx="11292840" cy="3344706"/>
          </a:xfrm>
        </p:grpSpPr>
        <p:sp>
          <p:nvSpPr>
            <p:cNvPr id="7" name="Shape 5"/>
            <p:cNvSpPr/>
            <p:nvPr/>
          </p:nvSpPr>
          <p:spPr>
            <a:xfrm>
              <a:off x="640080" y="3063240"/>
              <a:ext cx="2148840" cy="45720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 6"/>
            <p:cNvSpPr/>
            <p:nvPr/>
          </p:nvSpPr>
          <p:spPr>
            <a:xfrm>
              <a:off x="640080" y="3063240"/>
              <a:ext cx="2148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300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BROWSER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640080" y="3520440"/>
              <a:ext cx="2148841" cy="242316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2926080" y="3063240"/>
              <a:ext cx="2148840" cy="45720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Text 9"/>
            <p:cNvSpPr/>
            <p:nvPr/>
          </p:nvSpPr>
          <p:spPr>
            <a:xfrm>
              <a:off x="2926080" y="3063240"/>
              <a:ext cx="2148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300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WEB</a:t>
              </a:r>
              <a:endParaRPr lang="en-US" sz="11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2926080" y="3520440"/>
              <a:ext cx="2148841" cy="242316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Shape 11"/>
            <p:cNvSpPr/>
            <p:nvPr/>
          </p:nvSpPr>
          <p:spPr>
            <a:xfrm>
              <a:off x="5212080" y="3063240"/>
              <a:ext cx="2148840" cy="45720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Text 12"/>
            <p:cNvSpPr/>
            <p:nvPr/>
          </p:nvSpPr>
          <p:spPr>
            <a:xfrm>
              <a:off x="5212080" y="3063240"/>
              <a:ext cx="2148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300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SERVICE</a:t>
              </a:r>
              <a:endParaRPr lang="en-US" sz="11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212080" y="3520440"/>
              <a:ext cx="2148841" cy="242316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Shape 14"/>
            <p:cNvSpPr/>
            <p:nvPr/>
          </p:nvSpPr>
          <p:spPr>
            <a:xfrm>
              <a:off x="7498080" y="3063240"/>
              <a:ext cx="2148840" cy="45720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7" name="Text 15"/>
            <p:cNvSpPr/>
            <p:nvPr/>
          </p:nvSpPr>
          <p:spPr>
            <a:xfrm>
              <a:off x="7498080" y="3063240"/>
              <a:ext cx="2148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300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REPOSITORY</a:t>
              </a:r>
              <a:endParaRPr lang="en-US" sz="11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7498080" y="3520440"/>
              <a:ext cx="2148841" cy="242316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Shape 17"/>
            <p:cNvSpPr/>
            <p:nvPr/>
          </p:nvSpPr>
          <p:spPr>
            <a:xfrm>
              <a:off x="9784080" y="3063240"/>
              <a:ext cx="2148840" cy="457200"/>
            </a:xfrm>
            <a:prstGeom prst="rect">
              <a:avLst/>
            </a:prstGeom>
            <a:solidFill>
              <a:srgbClr val="0F172A"/>
            </a:solidFill>
            <a:ln w="12700">
              <a:solidFill>
                <a:srgbClr val="0F172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Text 18"/>
            <p:cNvSpPr/>
            <p:nvPr/>
          </p:nvSpPr>
          <p:spPr>
            <a:xfrm>
              <a:off x="9784080" y="3063240"/>
              <a:ext cx="2148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300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SQLITE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9784079" y="3520440"/>
              <a:ext cx="2148841" cy="242316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2" name="Shape 20"/>
            <p:cNvSpPr/>
            <p:nvPr/>
          </p:nvSpPr>
          <p:spPr>
            <a:xfrm>
              <a:off x="708660" y="370332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Shape 21"/>
            <p:cNvSpPr/>
            <p:nvPr/>
          </p:nvSpPr>
          <p:spPr>
            <a:xfrm>
              <a:off x="822960" y="3840480"/>
              <a:ext cx="320040" cy="320040"/>
            </a:xfrm>
            <a:prstGeom prst="ellipse">
              <a:avLst/>
            </a:prstGeom>
            <a:solidFill>
              <a:srgbClr val="E54AA3"/>
            </a:solidFill>
            <a:ln w="12700">
              <a:solidFill>
                <a:srgbClr val="E54AA3"/>
              </a:solidFill>
              <a:prstDash val="solid"/>
            </a:ln>
          </p:spPr>
          <p:txBody>
            <a:bodyPr/>
            <a:lstStyle/>
            <a:p>
              <a:endParaRPr lang="de-DE" dirty="0">
                <a:solidFill>
                  <a:srgbClr val="9648F3"/>
                </a:solidFill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822960" y="384048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1</a:t>
              </a:r>
              <a:endParaRPr lang="en-US" sz="11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777240" y="416052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User clicks Submit</a:t>
              </a:r>
              <a:endParaRPr lang="en-US" sz="10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77240" y="44165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POST /requests</a:t>
              </a:r>
              <a:endParaRPr lang="en-US" sz="90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2994660" y="370332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Shape 26"/>
            <p:cNvSpPr/>
            <p:nvPr/>
          </p:nvSpPr>
          <p:spPr>
            <a:xfrm>
              <a:off x="3108960" y="3840480"/>
              <a:ext cx="320040" cy="320040"/>
            </a:xfrm>
            <a:prstGeom prst="ellipse">
              <a:avLst/>
            </a:prstGeom>
            <a:solidFill>
              <a:srgbClr val="E54AA3"/>
            </a:solidFill>
            <a:ln w="12700">
              <a:solidFill>
                <a:srgbClr val="E54AA3"/>
              </a:solidFill>
              <a:prstDash val="solid"/>
            </a:ln>
          </p:spPr>
          <p:txBody>
            <a:bodyPr/>
            <a:lstStyle/>
            <a:p>
              <a:endParaRPr lang="de-DE">
                <a:solidFill>
                  <a:srgbClr val="9648F3"/>
                </a:solidFill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3108960" y="384048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2</a:t>
              </a:r>
              <a:endParaRPr lang="en-US" sz="11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063240" y="416052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RequestController</a:t>
              </a:r>
              <a:endParaRPr lang="en-US" sz="105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3063240" y="44165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parses form params</a:t>
              </a:r>
              <a:endParaRPr lang="en-US" sz="9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5280660" y="370332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3" name="Shape 31"/>
            <p:cNvSpPr/>
            <p:nvPr/>
          </p:nvSpPr>
          <p:spPr>
            <a:xfrm>
              <a:off x="5394960" y="3840480"/>
              <a:ext cx="320040" cy="320040"/>
            </a:xfrm>
            <a:prstGeom prst="ellipse">
              <a:avLst/>
            </a:prstGeom>
            <a:solidFill>
              <a:srgbClr val="E54AA3"/>
            </a:solidFill>
            <a:ln w="12700">
              <a:solidFill>
                <a:srgbClr val="E54AA3"/>
              </a:solidFill>
              <a:prstDash val="solid"/>
            </a:ln>
          </p:spPr>
          <p:txBody>
            <a:bodyPr/>
            <a:lstStyle/>
            <a:p>
              <a:endParaRPr lang="de-DE">
                <a:solidFill>
                  <a:srgbClr val="9648F3"/>
                </a:solidFill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5394960" y="384048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3</a:t>
              </a:r>
              <a:endParaRPr lang="en-US" sz="110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5349240" y="416052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RequestService.createRequest</a:t>
              </a:r>
              <a:endParaRPr lang="en-US" sz="10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5349240" y="44165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authorize + validate</a:t>
              </a:r>
              <a:endParaRPr lang="en-US" sz="90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7566660" y="370332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8" name="Shape 36"/>
            <p:cNvSpPr/>
            <p:nvPr/>
          </p:nvSpPr>
          <p:spPr>
            <a:xfrm>
              <a:off x="7680960" y="3840480"/>
              <a:ext cx="320040" cy="320040"/>
            </a:xfrm>
            <a:prstGeom prst="ellipse">
              <a:avLst/>
            </a:prstGeom>
            <a:solidFill>
              <a:srgbClr val="E54AA3"/>
            </a:solidFill>
            <a:ln w="12700">
              <a:solidFill>
                <a:srgbClr val="E54AA3"/>
              </a:solidFill>
              <a:prstDash val="solid"/>
            </a:ln>
          </p:spPr>
          <p:txBody>
            <a:bodyPr/>
            <a:lstStyle/>
            <a:p>
              <a:endParaRPr lang="de-DE">
                <a:solidFill>
                  <a:srgbClr val="9648F3"/>
                </a:solidFill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7680960" y="384048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4</a:t>
              </a:r>
              <a:endParaRPr lang="en-US" sz="110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7635240" y="416052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SqliteRequestRepo.save</a:t>
              </a:r>
              <a:endParaRPr lang="en-US" sz="105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7635240" y="44165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PreparedStatement</a:t>
              </a:r>
              <a:endParaRPr lang="en-US" sz="9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9852660" y="370332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3" name="Shape 41"/>
            <p:cNvSpPr/>
            <p:nvPr/>
          </p:nvSpPr>
          <p:spPr>
            <a:xfrm>
              <a:off x="9966960" y="3840480"/>
              <a:ext cx="320040" cy="320040"/>
            </a:xfrm>
            <a:prstGeom prst="ellipse">
              <a:avLst/>
            </a:prstGeom>
            <a:solidFill>
              <a:srgbClr val="E54AA3"/>
            </a:solidFill>
            <a:ln w="12700">
              <a:solidFill>
                <a:srgbClr val="E54AA3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4" name="Text 42"/>
            <p:cNvSpPr/>
            <p:nvPr/>
          </p:nvSpPr>
          <p:spPr>
            <a:xfrm>
              <a:off x="9966960" y="384048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5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9921240" y="416052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INSERT INTO requests</a:t>
              </a:r>
              <a:endParaRPr lang="en-US" sz="105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9921240" y="441655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returns generated ID</a:t>
              </a:r>
              <a:endParaRPr lang="en-US" sz="90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7566660" y="480060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8" name="Shape 46"/>
            <p:cNvSpPr/>
            <p:nvPr/>
          </p:nvSpPr>
          <p:spPr>
            <a:xfrm>
              <a:off x="7680960" y="4937760"/>
              <a:ext cx="320040" cy="320040"/>
            </a:xfrm>
            <a:prstGeom prst="ellipse">
              <a:avLst/>
            </a:prstGeom>
            <a:solidFill>
              <a:srgbClr val="9648F3"/>
            </a:solidFill>
            <a:ln w="12700">
              <a:solidFill>
                <a:srgbClr val="9648F3"/>
              </a:solidFill>
              <a:prstDash val="solid"/>
            </a:ln>
          </p:spPr>
          <p:txBody>
            <a:bodyPr/>
            <a:lstStyle/>
            <a:p>
              <a:endParaRPr lang="de-DE">
                <a:solidFill>
                  <a:srgbClr val="9648F3"/>
                </a:solidFill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7680960" y="493776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6</a:t>
              </a:r>
              <a:endParaRPr lang="en-US" sz="11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7635240" y="525780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Request object → id set</a:t>
              </a:r>
              <a:endParaRPr lang="en-US" sz="105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7635240" y="551383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by RETURN_GENERATED_KEYS</a:t>
              </a:r>
              <a:endParaRPr lang="en-US" sz="9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5280660" y="480060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3" name="Shape 51"/>
            <p:cNvSpPr/>
            <p:nvPr/>
          </p:nvSpPr>
          <p:spPr>
            <a:xfrm>
              <a:off x="5394960" y="4937760"/>
              <a:ext cx="320040" cy="320040"/>
            </a:xfrm>
            <a:prstGeom prst="ellipse">
              <a:avLst/>
            </a:prstGeom>
            <a:solidFill>
              <a:srgbClr val="9648F3"/>
            </a:solidFill>
            <a:ln w="12700">
              <a:solidFill>
                <a:srgbClr val="9648F3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4" name="Text 52"/>
            <p:cNvSpPr/>
            <p:nvPr/>
          </p:nvSpPr>
          <p:spPr>
            <a:xfrm>
              <a:off x="5394960" y="493776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chemeClr val="bg1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7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5349240" y="525780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returns Request to controller</a:t>
              </a:r>
              <a:endParaRPr lang="en-US" sz="1050" dirty="0"/>
            </a:p>
          </p:txBody>
        </p:sp>
        <p:sp>
          <p:nvSpPr>
            <p:cNvPr id="56" name="Shape 54"/>
            <p:cNvSpPr/>
            <p:nvPr/>
          </p:nvSpPr>
          <p:spPr>
            <a:xfrm>
              <a:off x="2994660" y="480060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57" name="Shape 55"/>
            <p:cNvSpPr/>
            <p:nvPr/>
          </p:nvSpPr>
          <p:spPr>
            <a:xfrm>
              <a:off x="3108960" y="4937760"/>
              <a:ext cx="320040" cy="320040"/>
            </a:xfrm>
            <a:prstGeom prst="ellipse">
              <a:avLst/>
            </a:prstGeom>
            <a:solidFill>
              <a:srgbClr val="9648F3"/>
            </a:solidFill>
            <a:ln w="12700">
              <a:solidFill>
                <a:srgbClr val="9648F3"/>
              </a:solidFill>
              <a:prstDash val="solid"/>
            </a:ln>
          </p:spPr>
          <p:txBody>
            <a:bodyPr/>
            <a:lstStyle/>
            <a:p>
              <a:endParaRPr lang="de-DE">
                <a:solidFill>
                  <a:srgbClr val="9648F3"/>
                </a:solidFill>
              </a:endParaRPr>
            </a:p>
          </p:txBody>
        </p:sp>
        <p:sp>
          <p:nvSpPr>
            <p:cNvPr id="58" name="Text 56"/>
            <p:cNvSpPr/>
            <p:nvPr/>
          </p:nvSpPr>
          <p:spPr>
            <a:xfrm>
              <a:off x="3108960" y="493776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8</a:t>
              </a:r>
              <a:endParaRPr lang="en-US" sz="11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3063240" y="525780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ctx.redirect('/requests/42')</a:t>
              </a:r>
              <a:endParaRPr lang="en-US" sz="105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3063240" y="551383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302 response</a:t>
              </a:r>
              <a:endParaRPr lang="en-US" sz="90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708660" y="4800600"/>
              <a:ext cx="2011680" cy="914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62" name="Shape 60"/>
            <p:cNvSpPr/>
            <p:nvPr/>
          </p:nvSpPr>
          <p:spPr>
            <a:xfrm>
              <a:off x="822960" y="4937760"/>
              <a:ext cx="320040" cy="320040"/>
            </a:xfrm>
            <a:prstGeom prst="ellipse">
              <a:avLst/>
            </a:prstGeom>
            <a:solidFill>
              <a:srgbClr val="9648F3"/>
            </a:solidFill>
            <a:ln w="12700">
              <a:solidFill>
                <a:srgbClr val="9648F3"/>
              </a:solidFill>
              <a:prstDash val="solid"/>
            </a:ln>
          </p:spPr>
          <p:txBody>
            <a:bodyPr/>
            <a:lstStyle/>
            <a:p>
              <a:endParaRPr lang="de-DE">
                <a:solidFill>
                  <a:srgbClr val="9648F3"/>
                </a:solidFill>
              </a:endParaRPr>
            </a:p>
          </p:txBody>
        </p:sp>
        <p:sp>
          <p:nvSpPr>
            <p:cNvPr id="63" name="Text 61"/>
            <p:cNvSpPr/>
            <p:nvPr/>
          </p:nvSpPr>
          <p:spPr>
            <a:xfrm>
              <a:off x="822960" y="493776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9</a:t>
              </a:r>
              <a:endParaRPr lang="en-US" sz="1100" dirty="0"/>
            </a:p>
          </p:txBody>
        </p:sp>
        <p:sp>
          <p:nvSpPr>
            <p:cNvPr id="64" name="Text 62"/>
            <p:cNvSpPr/>
            <p:nvPr/>
          </p:nvSpPr>
          <p:spPr>
            <a:xfrm>
              <a:off x="777240" y="5257800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Browser shows detail page</a:t>
              </a:r>
              <a:endParaRPr lang="en-US" sz="105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777240" y="5513832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via fresh GET</a:t>
              </a:r>
              <a:endParaRPr lang="en-US" sz="90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5669281" y="2598894"/>
              <a:ext cx="1828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i="1" dirty="0">
                  <a:solidFill>
                    <a:srgbClr val="E54AA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forward  →</a:t>
              </a:r>
              <a:endParaRPr lang="en-US" sz="1000" dirty="0">
                <a:solidFill>
                  <a:srgbClr val="E54AA3"/>
                </a:solidFill>
              </a:endParaRPr>
            </a:p>
          </p:txBody>
        </p:sp>
        <p:sp>
          <p:nvSpPr>
            <p:cNvPr id="67" name="Shape 65"/>
            <p:cNvSpPr/>
            <p:nvPr/>
          </p:nvSpPr>
          <p:spPr>
            <a:xfrm flipV="1">
              <a:off x="822961" y="2834638"/>
              <a:ext cx="10927079" cy="1"/>
            </a:xfrm>
            <a:prstGeom prst="line">
              <a:avLst/>
            </a:prstGeom>
            <a:noFill/>
            <a:ln w="19050">
              <a:solidFill>
                <a:srgbClr val="E54AA3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>
                <a:solidFill>
                  <a:srgbClr val="9648F3"/>
                </a:solidFill>
              </a:endParaRPr>
            </a:p>
          </p:txBody>
        </p:sp>
      </p:grpSp>
      <p:sp>
        <p:nvSpPr>
          <p:cNvPr id="72" name="Shape 65">
            <a:extLst>
              <a:ext uri="{FF2B5EF4-FFF2-40B4-BE49-F238E27FC236}">
                <a16:creationId xmlns:a16="http://schemas.microsoft.com/office/drawing/2014/main" id="{59F660A3-C4AE-14E0-D720-2975912A18C2}"/>
              </a:ext>
            </a:extLst>
          </p:cNvPr>
          <p:cNvSpPr/>
          <p:nvPr/>
        </p:nvSpPr>
        <p:spPr>
          <a:xfrm flipH="1">
            <a:off x="773719" y="6172200"/>
            <a:ext cx="8614153" cy="0"/>
          </a:xfrm>
          <a:prstGeom prst="line">
            <a:avLst/>
          </a:prstGeom>
          <a:noFill/>
          <a:ln w="19050">
            <a:solidFill>
              <a:srgbClr val="9648F3"/>
            </a:solidFill>
            <a:prstDash val="solid"/>
            <a:tailEnd type="triangle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73" name="Text 64">
            <a:extLst>
              <a:ext uri="{FF2B5EF4-FFF2-40B4-BE49-F238E27FC236}">
                <a16:creationId xmlns:a16="http://schemas.microsoft.com/office/drawing/2014/main" id="{D6E72763-A5F7-DEF9-74E0-74F23DDBC579}"/>
              </a:ext>
            </a:extLst>
          </p:cNvPr>
          <p:cNvSpPr/>
          <p:nvPr/>
        </p:nvSpPr>
        <p:spPr>
          <a:xfrm>
            <a:off x="4537895" y="6199632"/>
            <a:ext cx="1781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i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← return </a:t>
            </a:r>
            <a:endParaRPr lang="en-US" sz="1000" dirty="0">
              <a:solidFill>
                <a:srgbClr val="9648F3"/>
              </a:solidFill>
            </a:endParaRPr>
          </a:p>
        </p:txBody>
      </p:sp>
      <p:sp>
        <p:nvSpPr>
          <p:cNvPr id="74" name="Text 3">
            <a:extLst>
              <a:ext uri="{FF2B5EF4-FFF2-40B4-BE49-F238E27FC236}">
                <a16:creationId xmlns:a16="http://schemas.microsoft.com/office/drawing/2014/main" id="{13C6791A-E21A-3658-1AC4-8B5B2BBF0E92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How a request moves through the system</a:t>
            </a:r>
            <a:endParaRPr lang="en-US" sz="3600">
              <a:solidFill>
                <a:srgbClr val="0F172A"/>
              </a:solidFill>
              <a:latin typeface="Helvetica Neue"/>
            </a:endParaRPr>
          </a:p>
        </p:txBody>
      </p:sp>
      <p:sp>
        <p:nvSpPr>
          <p:cNvPr id="81" name="Text 4">
            <a:extLst>
              <a:ext uri="{FF2B5EF4-FFF2-40B4-BE49-F238E27FC236}">
                <a16:creationId xmlns:a16="http://schemas.microsoft.com/office/drawing/2014/main" id="{B72672CA-1E90-0EFD-2BB4-04C38C0C33F0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This flow shows how user actions are processed and stored in the database.</a:t>
            </a:r>
            <a:endParaRPr lang="en-US"/>
          </a:p>
        </p:txBody>
      </p:sp>
      <p:sp>
        <p:nvSpPr>
          <p:cNvPr id="83" name="Text 17">
            <a:extLst>
              <a:ext uri="{FF2B5EF4-FFF2-40B4-BE49-F238E27FC236}">
                <a16:creationId xmlns:a16="http://schemas.microsoft.com/office/drawing/2014/main" id="{08F1612A-696C-7906-DDF0-5CDEB021B139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85" name="Text 34">
            <a:extLst>
              <a:ext uri="{FF2B5EF4-FFF2-40B4-BE49-F238E27FC236}">
                <a16:creationId xmlns:a16="http://schemas.microsoft.com/office/drawing/2014/main" id="{662A3CDE-B754-D67E-22AD-5AE73A543CC7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06</a:t>
            </a:r>
            <a:endParaRPr lang="en-US" sz="900">
              <a:latin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· CLASS DESIGN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40593" y="2971800"/>
            <a:ext cx="2743200" cy="777240"/>
          </a:xfrm>
          <a:prstGeom prst="rect">
            <a:avLst/>
          </a:prstGeom>
          <a:solidFill>
            <a:srgbClr val="FAFAFA"/>
          </a:solidFill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740593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« abstract »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40593" y="3227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40593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252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id · username · password · role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57313" y="41605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357313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Employee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97793" y="41605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197793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ServiceAgent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12193" y="4160520"/>
            <a:ext cx="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9038273" y="41605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9038273" y="4160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Manager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952673" y="4160520"/>
            <a:ext cx="0" cy="0"/>
          </a:xfrm>
          <a:prstGeom prst="line">
            <a:avLst/>
          </a:prstGeom>
          <a:noFill/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740593" y="5074920"/>
            <a:ext cx="2743200" cy="1097280"/>
          </a:xfrm>
          <a:prstGeom prst="rect">
            <a:avLst/>
          </a:prstGeom>
          <a:solidFill>
            <a:srgbClr val="FAFAFA"/>
          </a:solidFill>
          <a:ln w="1905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40593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Request</a:t>
            </a:r>
            <a:endParaRPr lang="en-US" sz="1400" dirty="0">
              <a:solidFill>
                <a:srgbClr val="9648F3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32033" y="5394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8181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transitionTo(Status)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8181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assign(ServiceAgent)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8181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isOverdue() : boolean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38273" y="5120640"/>
            <a:ext cx="2286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9038273" y="5212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Comment</a:t>
            </a:r>
            <a:endParaRPr lang="en-US" sz="1300" dirty="0">
              <a:solidFill>
                <a:srgbClr val="9648F3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038273" y="5623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part-of the Request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75233" y="5623560"/>
            <a:ext cx="1463040" cy="0"/>
          </a:xfrm>
          <a:prstGeom prst="line">
            <a:avLst/>
          </a:prstGeom>
          <a:noFill/>
          <a:ln w="1905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38073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◆</a:t>
            </a:r>
            <a:endParaRPr lang="en-US" sz="1400" dirty="0">
              <a:solidFill>
                <a:srgbClr val="9648F3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40593" y="5440680"/>
            <a:ext cx="0" cy="0"/>
          </a:xfrm>
          <a:prstGeom prst="line">
            <a:avLst/>
          </a:prstGeom>
          <a:noFill/>
          <a:ln w="12700">
            <a:solidFill>
              <a:srgbClr val="52525B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1920240" y="4663439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submitter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12193" y="5074920"/>
            <a:ext cx="0" cy="0"/>
          </a:xfrm>
          <a:prstGeom prst="line">
            <a:avLst/>
          </a:prstGeom>
          <a:noFill/>
          <a:ln w="12700">
            <a:solidFill>
              <a:srgbClr val="52525B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5803883" y="468991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assignee</a:t>
            </a:r>
            <a:endParaRPr lang="en-US" sz="900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BEB0FF29-F9A7-2319-0BC6-B841EE045018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Core domain classes and relationships</a:t>
            </a:r>
            <a:endParaRPr lang="en-US" sz="3600">
              <a:solidFill>
                <a:srgbClr val="0F172A"/>
              </a:solidFill>
              <a:latin typeface="Helvetica Neue"/>
            </a:endParaRPr>
          </a:p>
        </p:txBody>
      </p:sp>
      <p:sp>
        <p:nvSpPr>
          <p:cNvPr id="39" name="Text 4">
            <a:extLst>
              <a:ext uri="{FF2B5EF4-FFF2-40B4-BE49-F238E27FC236}">
                <a16:creationId xmlns:a16="http://schemas.microsoft.com/office/drawing/2014/main" id="{ADA2B5EC-3156-320E-61BE-E5A3BBD1B8AA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How do the main classes interact inside the system?</a:t>
            </a:r>
            <a:endParaRPr lang="en-US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FC96A82A-5625-E0E2-18AA-A8B78528D405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43" name="Text 34">
            <a:extLst>
              <a:ext uri="{FF2B5EF4-FFF2-40B4-BE49-F238E27FC236}">
                <a16:creationId xmlns:a16="http://schemas.microsoft.com/office/drawing/2014/main" id="{070E931F-704F-C753-9835-441738B2E7C4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07</a:t>
            </a:r>
            <a:endParaRPr lang="en-US" sz="900">
              <a:latin typeface="Helvetica Neue"/>
            </a:endParaRPr>
          </a:p>
        </p:txBody>
      </p:sp>
      <p:cxnSp>
        <p:nvCxnSpPr>
          <p:cNvPr id="40" name="Gewinkelte Verbindung 39">
            <a:extLst>
              <a:ext uri="{FF2B5EF4-FFF2-40B4-BE49-F238E27FC236}">
                <a16:creationId xmlns:a16="http://schemas.microsoft.com/office/drawing/2014/main" id="{9AC1A143-BB8C-F14D-274C-B62DA89D5AF2}"/>
              </a:ext>
            </a:extLst>
          </p:cNvPr>
          <p:cNvCxnSpPr>
            <a:cxnSpLocks/>
            <a:stCxn id="12" idx="0"/>
            <a:endCxn id="7" idx="2"/>
          </p:cNvCxnSpPr>
          <p:nvPr/>
        </p:nvCxnSpPr>
        <p:spPr>
          <a:xfrm rot="5400000" flipH="1" flipV="1">
            <a:off x="3986213" y="2034540"/>
            <a:ext cx="411480" cy="384048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653E6FBB-F35F-208A-2C41-96C3B564B0A9}"/>
              </a:ext>
            </a:extLst>
          </p:cNvPr>
          <p:cNvCxnSpPr>
            <a:cxnSpLocks/>
            <a:stCxn id="14" idx="0"/>
            <a:endCxn id="7" idx="2"/>
          </p:cNvCxnSpPr>
          <p:nvPr/>
        </p:nvCxnSpPr>
        <p:spPr>
          <a:xfrm flipV="1">
            <a:off x="6112193" y="3749040"/>
            <a:ext cx="0" cy="411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Gewinkelte Verbindung 45">
            <a:extLst>
              <a:ext uri="{FF2B5EF4-FFF2-40B4-BE49-F238E27FC236}">
                <a16:creationId xmlns:a16="http://schemas.microsoft.com/office/drawing/2014/main" id="{D029BBB2-B0C4-FFC9-B747-D65E64747253}"/>
              </a:ext>
            </a:extLst>
          </p:cNvPr>
          <p:cNvCxnSpPr>
            <a:cxnSpLocks/>
            <a:stCxn id="18" idx="0"/>
            <a:endCxn id="7" idx="2"/>
          </p:cNvCxnSpPr>
          <p:nvPr/>
        </p:nvCxnSpPr>
        <p:spPr>
          <a:xfrm rot="16200000" flipV="1">
            <a:off x="7826693" y="2034540"/>
            <a:ext cx="411480" cy="384048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560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35760" y="436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· LIFECYCLE</a:t>
            </a:r>
            <a:endParaRPr lang="en-US" sz="1100"/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73D4B36E-D80A-D0EA-393A-A2728AB10045}"/>
              </a:ext>
            </a:extLst>
          </p:cNvPr>
          <p:cNvGrpSpPr/>
          <p:nvPr/>
        </p:nvGrpSpPr>
        <p:grpSpPr>
          <a:xfrm>
            <a:off x="502920" y="3542265"/>
            <a:ext cx="1554480" cy="594360"/>
            <a:chOff x="914400" y="3931920"/>
            <a:chExt cx="1554480" cy="594360"/>
          </a:xfrm>
        </p:grpSpPr>
        <p:sp>
          <p:nvSpPr>
            <p:cNvPr id="7" name="Shape 5"/>
            <p:cNvSpPr/>
            <p:nvPr/>
          </p:nvSpPr>
          <p:spPr>
            <a:xfrm>
              <a:off x="914400" y="3931920"/>
              <a:ext cx="1554480" cy="5943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2525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 6"/>
            <p:cNvSpPr/>
            <p:nvPr/>
          </p:nvSpPr>
          <p:spPr>
            <a:xfrm>
              <a:off x="914400" y="3931920"/>
              <a:ext cx="15544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NEW</a:t>
              </a:r>
              <a:endParaRPr lang="en-US" sz="1100"/>
            </a:p>
          </p:txBody>
        </p:sp>
      </p:grpSp>
      <p:sp>
        <p:nvSpPr>
          <p:cNvPr id="9" name="Shape 7"/>
          <p:cNvSpPr/>
          <p:nvPr/>
        </p:nvSpPr>
        <p:spPr>
          <a:xfrm>
            <a:off x="2844801" y="3542265"/>
            <a:ext cx="155448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52525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858044" y="3540605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5252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ASSIGNED</a:t>
            </a:r>
            <a:endParaRPr lang="en-US" sz="1100"/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0C8CE69F-A9C8-7019-C162-A1195CF63703}"/>
              </a:ext>
            </a:extLst>
          </p:cNvPr>
          <p:cNvGrpSpPr/>
          <p:nvPr/>
        </p:nvGrpSpPr>
        <p:grpSpPr>
          <a:xfrm>
            <a:off x="4922521" y="3554211"/>
            <a:ext cx="1554480" cy="594360"/>
            <a:chOff x="4937760" y="3931920"/>
            <a:chExt cx="1554480" cy="594360"/>
          </a:xfrm>
        </p:grpSpPr>
        <p:sp>
          <p:nvSpPr>
            <p:cNvPr id="11" name="Shape 9"/>
            <p:cNvSpPr/>
            <p:nvPr/>
          </p:nvSpPr>
          <p:spPr>
            <a:xfrm>
              <a:off x="4937760" y="3931920"/>
              <a:ext cx="1554480" cy="5943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Text 10"/>
            <p:cNvSpPr/>
            <p:nvPr/>
          </p:nvSpPr>
          <p:spPr>
            <a:xfrm>
              <a:off x="4937760" y="3931920"/>
              <a:ext cx="15544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D97706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IN_PROGRESS</a:t>
              </a:r>
              <a:endParaRPr lang="en-US" sz="1100"/>
            </a:p>
          </p:txBody>
        </p:sp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EF30D0F3-C1FA-0745-879C-816AC3ECE73F}"/>
              </a:ext>
            </a:extLst>
          </p:cNvPr>
          <p:cNvGrpSpPr/>
          <p:nvPr/>
        </p:nvGrpSpPr>
        <p:grpSpPr>
          <a:xfrm>
            <a:off x="7167880" y="3576036"/>
            <a:ext cx="1554480" cy="594360"/>
            <a:chOff x="6949440" y="3931920"/>
            <a:chExt cx="1554480" cy="594360"/>
          </a:xfrm>
        </p:grpSpPr>
        <p:sp>
          <p:nvSpPr>
            <p:cNvPr id="13" name="Shape 11"/>
            <p:cNvSpPr/>
            <p:nvPr/>
          </p:nvSpPr>
          <p:spPr>
            <a:xfrm>
              <a:off x="6949440" y="3931920"/>
              <a:ext cx="1554480" cy="5943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16A34A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Text 12"/>
            <p:cNvSpPr/>
            <p:nvPr/>
          </p:nvSpPr>
          <p:spPr>
            <a:xfrm>
              <a:off x="6949440" y="3931920"/>
              <a:ext cx="15544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16A34A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RESOLVED</a:t>
              </a:r>
              <a:endParaRPr lang="en-US" sz="1100"/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6501E84B-261C-529C-21B5-E437B12568B6}"/>
              </a:ext>
            </a:extLst>
          </p:cNvPr>
          <p:cNvGrpSpPr/>
          <p:nvPr/>
        </p:nvGrpSpPr>
        <p:grpSpPr>
          <a:xfrm>
            <a:off x="9738360" y="3576036"/>
            <a:ext cx="1554480" cy="606308"/>
            <a:chOff x="8961120" y="3931920"/>
            <a:chExt cx="1554480" cy="606308"/>
          </a:xfrm>
        </p:grpSpPr>
        <p:sp>
          <p:nvSpPr>
            <p:cNvPr id="15" name="Shape 13"/>
            <p:cNvSpPr/>
            <p:nvPr/>
          </p:nvSpPr>
          <p:spPr>
            <a:xfrm>
              <a:off x="8961120" y="3943868"/>
              <a:ext cx="1554480" cy="5943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52525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Text 14"/>
            <p:cNvSpPr/>
            <p:nvPr/>
          </p:nvSpPr>
          <p:spPr>
            <a:xfrm>
              <a:off x="8961120" y="3931920"/>
              <a:ext cx="15544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52525B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CLOSED</a:t>
              </a:r>
              <a:endParaRPr lang="en-US" sz="1100"/>
            </a:p>
          </p:txBody>
        </p:sp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03B7B3DC-FC44-43F0-A4A8-631335DD6D52}"/>
              </a:ext>
            </a:extLst>
          </p:cNvPr>
          <p:cNvGrpSpPr/>
          <p:nvPr/>
        </p:nvGrpSpPr>
        <p:grpSpPr>
          <a:xfrm>
            <a:off x="6172200" y="4765792"/>
            <a:ext cx="1554480" cy="617221"/>
            <a:chOff x="8321041" y="4983480"/>
            <a:chExt cx="1554480" cy="617221"/>
          </a:xfrm>
        </p:grpSpPr>
        <p:sp>
          <p:nvSpPr>
            <p:cNvPr id="17" name="Shape 15"/>
            <p:cNvSpPr/>
            <p:nvPr/>
          </p:nvSpPr>
          <p:spPr>
            <a:xfrm>
              <a:off x="8321041" y="4983480"/>
              <a:ext cx="1554480" cy="59436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8" name="Text 16"/>
            <p:cNvSpPr/>
            <p:nvPr/>
          </p:nvSpPr>
          <p:spPr>
            <a:xfrm>
              <a:off x="8321041" y="5006341"/>
              <a:ext cx="155448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>
                  <a:solidFill>
                    <a:srgbClr val="D97706"/>
                  </a:solidFill>
                  <a:latin typeface="Menlo" pitchFamily="34" charset="0"/>
                  <a:ea typeface="Menlo" pitchFamily="34" charset="-122"/>
                  <a:cs typeface="Menlo" pitchFamily="34" charset="-120"/>
                </a:rPr>
                <a:t>WAITING_FOR_INFO</a:t>
              </a:r>
              <a:endParaRPr lang="en-US" sz="900"/>
            </a:p>
          </p:txBody>
        </p:sp>
      </p:grpSp>
      <p:sp>
        <p:nvSpPr>
          <p:cNvPr id="19" name="Shape 17"/>
          <p:cNvSpPr/>
          <p:nvPr/>
        </p:nvSpPr>
        <p:spPr>
          <a:xfrm>
            <a:off x="2057400" y="3851391"/>
            <a:ext cx="782322" cy="10913"/>
          </a:xfrm>
          <a:prstGeom prst="line">
            <a:avLst/>
          </a:prstGeom>
          <a:noFill/>
          <a:ln w="19050">
            <a:solidFill>
              <a:srgbClr val="52525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394201" y="3847952"/>
            <a:ext cx="523241" cy="3439"/>
          </a:xfrm>
          <a:prstGeom prst="line">
            <a:avLst/>
          </a:prstGeom>
          <a:noFill/>
          <a:ln w="19050">
            <a:solidFill>
              <a:srgbClr val="52525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 flipV="1">
            <a:off x="6492240" y="3851391"/>
            <a:ext cx="675640" cy="0"/>
          </a:xfrm>
          <a:prstGeom prst="line">
            <a:avLst/>
          </a:prstGeom>
          <a:noFill/>
          <a:ln w="19050">
            <a:solidFill>
              <a:srgbClr val="52525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20"/>
          <p:cNvSpPr/>
          <p:nvPr/>
        </p:nvSpPr>
        <p:spPr>
          <a:xfrm>
            <a:off x="8722360" y="3851392"/>
            <a:ext cx="1016000" cy="0"/>
          </a:xfrm>
          <a:prstGeom prst="line">
            <a:avLst/>
          </a:prstGeom>
          <a:noFill/>
          <a:ln w="19050">
            <a:solidFill>
              <a:srgbClr val="52525B"/>
            </a:solidFill>
            <a:prstDash val="solid"/>
            <a:tailEnd type="triangle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2148840" y="35661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assign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4333238" y="3527913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6482080" y="35204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resolve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8844283" y="355929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close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7726680" y="4605772"/>
            <a:ext cx="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664960" y="2970765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DC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reopen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548640" y="5474452"/>
            <a:ext cx="11094415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9648F3"/>
                </a:solidFill>
                <a:latin typeface="Menlo"/>
                <a:ea typeface="Menlo" pitchFamily="34" charset="-122"/>
                <a:cs typeface="Menlo" pitchFamily="34" charset="-120"/>
              </a:rPr>
              <a:t>ALLOWED_TRANSITIONS  </a:t>
            </a:r>
            <a:r>
              <a:rPr lang="en-US" sz="1300">
                <a:solidFill>
                  <a:srgbClr val="18181B"/>
                </a:solidFill>
                <a:latin typeface="Helvetica Neue"/>
                <a:ea typeface="Helvetica Neue"/>
                <a:cs typeface="Helvetica Neue" pitchFamily="34" charset="-120"/>
              </a:rPr>
              <a:t>is an immutable map; </a:t>
            </a:r>
            <a:r>
              <a:rPr lang="en-US" sz="1300" b="1" err="1">
                <a:solidFill>
                  <a:srgbClr val="9648F3"/>
                </a:solidFill>
                <a:latin typeface="Menlo"/>
                <a:ea typeface="Menlo"/>
                <a:cs typeface="Menlo" pitchFamily="34" charset="-120"/>
              </a:rPr>
              <a:t>transitionTo</a:t>
            </a:r>
            <a:r>
              <a:rPr lang="en-US" sz="1300" b="1">
                <a:solidFill>
                  <a:srgbClr val="9648F3"/>
                </a:solidFill>
                <a:latin typeface="Menlo"/>
                <a:ea typeface="Menlo"/>
                <a:cs typeface="Menlo" pitchFamily="34" charset="-120"/>
              </a:rPr>
              <a:t>() </a:t>
            </a:r>
            <a:r>
              <a:rPr lang="en-US" sz="1300">
                <a:solidFill>
                  <a:srgbClr val="18181B"/>
                </a:solidFill>
                <a:latin typeface="Helvetica Neue"/>
                <a:ea typeface="Helvetica Neue"/>
                <a:cs typeface="Helvetica Neue" pitchFamily="34" charset="-120"/>
              </a:rPr>
              <a:t>throws </a:t>
            </a:r>
            <a:r>
              <a:rPr lang="en-US" sz="1300" err="1">
                <a:solidFill>
                  <a:srgbClr val="18181B"/>
                </a:solidFill>
                <a:latin typeface="Helvetica Neue"/>
                <a:ea typeface="Helvetica Neue"/>
                <a:cs typeface="Helvetica Neue" pitchFamily="34" charset="-120"/>
              </a:rPr>
              <a:t>InvalidStatusTransitionException</a:t>
            </a:r>
            <a:r>
              <a:rPr lang="en-US" sz="1300">
                <a:solidFill>
                  <a:srgbClr val="18181B"/>
                </a:solidFill>
                <a:latin typeface="Helvetica Neue"/>
                <a:ea typeface="Helvetica Neue"/>
                <a:cs typeface="Helvetica Neue" pitchFamily="34" charset="-120"/>
              </a:rPr>
              <a:t> on any illegal move. </a:t>
            </a:r>
            <a:endParaRPr lang="en-US" sz="1300">
              <a:solidFill>
                <a:srgbClr val="000000"/>
              </a:solidFill>
              <a:latin typeface="Helvetica Neue"/>
              <a:ea typeface="Helvetica Neue"/>
              <a:cs typeface="Calibri"/>
            </a:endParaRPr>
          </a:p>
          <a:p>
            <a:r>
              <a:rPr lang="en-US" sz="1300">
                <a:solidFill>
                  <a:srgbClr val="18181B"/>
                </a:solidFill>
                <a:latin typeface="Helvetica Neue"/>
                <a:ea typeface="Helvetica Neue"/>
                <a:cs typeface="Helvetica Neue" pitchFamily="34" charset="-120"/>
              </a:rPr>
              <a:t>The state machine cannot be bypassed.</a:t>
            </a:r>
            <a:endParaRPr lang="en-US" sz="1300">
              <a:latin typeface="Helvetica Neue"/>
              <a:ea typeface="Helvetica Neue"/>
              <a:cs typeface="Calibri"/>
            </a:endParaRPr>
          </a:p>
        </p:txBody>
      </p:sp>
      <p:cxnSp>
        <p:nvCxnSpPr>
          <p:cNvPr id="46" name="Gewinkelte Verbindung 45">
            <a:extLst>
              <a:ext uri="{FF2B5EF4-FFF2-40B4-BE49-F238E27FC236}">
                <a16:creationId xmlns:a16="http://schemas.microsoft.com/office/drawing/2014/main" id="{0A1DFD5D-F071-361D-2B60-68BBB2842620}"/>
              </a:ext>
            </a:extLst>
          </p:cNvPr>
          <p:cNvCxnSpPr>
            <a:stCxn id="11" idx="2"/>
            <a:endCxn id="17" idx="1"/>
          </p:cNvCxnSpPr>
          <p:nvPr/>
        </p:nvCxnSpPr>
        <p:spPr>
          <a:xfrm rot="16200000" flipH="1">
            <a:off x="5478780" y="4369551"/>
            <a:ext cx="914401" cy="472439"/>
          </a:xfrm>
          <a:prstGeom prst="bentConnector2">
            <a:avLst/>
          </a:prstGeom>
          <a:ln>
            <a:solidFill>
              <a:srgbClr val="D977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winkelte Verbindung 46">
            <a:extLst>
              <a:ext uri="{FF2B5EF4-FFF2-40B4-BE49-F238E27FC236}">
                <a16:creationId xmlns:a16="http://schemas.microsoft.com/office/drawing/2014/main" id="{3602ABF7-8496-C223-A622-370F4A08F6EA}"/>
              </a:ext>
            </a:extLst>
          </p:cNvPr>
          <p:cNvCxnSpPr>
            <a:cxnSpLocks/>
            <a:stCxn id="13" idx="0"/>
            <a:endCxn id="12" idx="0"/>
          </p:cNvCxnSpPr>
          <p:nvPr/>
        </p:nvCxnSpPr>
        <p:spPr>
          <a:xfrm rot="16200000" flipV="1">
            <a:off x="6811529" y="2442444"/>
            <a:ext cx="21825" cy="2245359"/>
          </a:xfrm>
          <a:prstGeom prst="bentConnector3">
            <a:avLst>
              <a:gd name="adj1" fmla="val 114742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winkelte Verbindung 52">
            <a:extLst>
              <a:ext uri="{FF2B5EF4-FFF2-40B4-BE49-F238E27FC236}">
                <a16:creationId xmlns:a16="http://schemas.microsoft.com/office/drawing/2014/main" id="{E12FD088-F3F8-481E-0239-2AB924AADAEA}"/>
              </a:ext>
            </a:extLst>
          </p:cNvPr>
          <p:cNvCxnSpPr/>
          <p:nvPr/>
        </p:nvCxnSpPr>
        <p:spPr>
          <a:xfrm rot="16200000" flipH="1">
            <a:off x="5521066" y="4411838"/>
            <a:ext cx="834908" cy="467360"/>
          </a:xfrm>
          <a:prstGeom prst="bentConnector2">
            <a:avLst/>
          </a:prstGeom>
          <a:ln w="19050">
            <a:solidFill>
              <a:srgbClr val="D9770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24">
            <a:extLst>
              <a:ext uri="{FF2B5EF4-FFF2-40B4-BE49-F238E27FC236}">
                <a16:creationId xmlns:a16="http://schemas.microsoft.com/office/drawing/2014/main" id="{85CFDD88-C786-FC11-D528-1B773EDAD38F}"/>
              </a:ext>
            </a:extLst>
          </p:cNvPr>
          <p:cNvSpPr/>
          <p:nvPr/>
        </p:nvSpPr>
        <p:spPr>
          <a:xfrm>
            <a:off x="5043692" y="4594795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wait</a:t>
            </a:r>
            <a:endParaRPr lang="en-US" sz="900"/>
          </a:p>
        </p:txBody>
      </p:sp>
      <p:cxnSp>
        <p:nvCxnSpPr>
          <p:cNvPr id="55" name="Gewinkelte Verbindung 54">
            <a:extLst>
              <a:ext uri="{FF2B5EF4-FFF2-40B4-BE49-F238E27FC236}">
                <a16:creationId xmlns:a16="http://schemas.microsoft.com/office/drawing/2014/main" id="{0D1F4B40-E1DE-8048-4F89-E8FB9D92E4C9}"/>
              </a:ext>
            </a:extLst>
          </p:cNvPr>
          <p:cNvCxnSpPr>
            <a:cxnSpLocks/>
            <a:stCxn id="9" idx="2"/>
          </p:cNvCxnSpPr>
          <p:nvPr/>
        </p:nvCxnSpPr>
        <p:spPr>
          <a:xfrm rot="5400000">
            <a:off x="2451101" y="2965685"/>
            <a:ext cx="12700" cy="2341881"/>
          </a:xfrm>
          <a:prstGeom prst="bentConnector3">
            <a:avLst>
              <a:gd name="adj1" fmla="val 1800000"/>
            </a:avLst>
          </a:prstGeom>
          <a:ln w="19050">
            <a:solidFill>
              <a:srgbClr val="52525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23">
            <a:extLst>
              <a:ext uri="{FF2B5EF4-FFF2-40B4-BE49-F238E27FC236}">
                <a16:creationId xmlns:a16="http://schemas.microsoft.com/office/drawing/2014/main" id="{8E3A9BD9-C81D-A2D0-6DC6-1DF1DB06CB10}"/>
              </a:ext>
            </a:extLst>
          </p:cNvPr>
          <p:cNvSpPr/>
          <p:nvPr/>
        </p:nvSpPr>
        <p:spPr>
          <a:xfrm>
            <a:off x="2057400" y="4394653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unassign</a:t>
            </a:r>
            <a:endParaRPr lang="en-US" sz="90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3C79A8F9-82D4-0A94-81C9-A07BB9CCBF48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Requests lifecycle and status transitions</a:t>
            </a:r>
            <a:endParaRPr lang="en-US" sz="3600">
              <a:solidFill>
                <a:srgbClr val="0F172A"/>
              </a:solidFill>
              <a:latin typeface="Helvetica Neue"/>
            </a:endParaRPr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E0055437-40E5-1AB3-9B7D-CDB7EB0E0417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Each request follows defined status rules from creation to closure.</a:t>
            </a:r>
            <a:endParaRPr lang="en-US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40AC7BD6-CCC7-DF56-D28D-A708BF0EA184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C809949F-4B0B-55F3-F612-E00C2FF5F59E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08</a:t>
            </a:r>
            <a:endParaRPr lang="en-US" sz="900">
              <a:latin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fik 27">
            <a:extLst>
              <a:ext uri="{FF2B5EF4-FFF2-40B4-BE49-F238E27FC236}">
                <a16:creationId xmlns:a16="http://schemas.microsoft.com/office/drawing/2014/main" id="{84971CD7-D5B1-50CC-6C62-498A9BCED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832" y="2526999"/>
            <a:ext cx="4801462" cy="396713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· PERSISTENCE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Composition from the UML enforced at the database with ON DELETE CASCADE.</a:t>
            </a:r>
            <a:endParaRPr lang="en-US" sz="14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A2EE4CA-156D-2601-5AD3-1794D450E8EF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Database structure and persistence layer</a:t>
            </a:r>
            <a:endParaRPr lang="en-US" sz="3600">
              <a:solidFill>
                <a:srgbClr val="0F172A"/>
              </a:solidFill>
              <a:latin typeface="Helvetica Neue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0269A71-A365-1584-A482-AD168C7BE609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The database stores users, requests, and comments in a structured way.</a:t>
            </a:r>
            <a:endParaRPr lang="en-US"/>
          </a:p>
        </p:txBody>
      </p:sp>
      <p:sp>
        <p:nvSpPr>
          <p:cNvPr id="12" name="Text 17">
            <a:extLst>
              <a:ext uri="{FF2B5EF4-FFF2-40B4-BE49-F238E27FC236}">
                <a16:creationId xmlns:a16="http://schemas.microsoft.com/office/drawing/2014/main" id="{A3276773-5A63-1BBA-4CF0-E8F39A20908D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14" name="Text 34">
            <a:extLst>
              <a:ext uri="{FF2B5EF4-FFF2-40B4-BE49-F238E27FC236}">
                <a16:creationId xmlns:a16="http://schemas.microsoft.com/office/drawing/2014/main" id="{7883BF20-44F5-6BBF-CC75-26F8C50F81DE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09</a:t>
            </a:r>
            <a:endParaRPr lang="en-US" sz="900">
              <a:latin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· SOLID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Applying SOLID principles in practice</a:t>
            </a:r>
            <a:endParaRPr lang="en-US"/>
          </a:p>
        </p:txBody>
      </p: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470E0D0F-C893-239C-67CC-7EC3F13217A8}"/>
              </a:ext>
            </a:extLst>
          </p:cNvPr>
          <p:cNvGrpSpPr/>
          <p:nvPr/>
        </p:nvGrpSpPr>
        <p:grpSpPr>
          <a:xfrm>
            <a:off x="548640" y="2880360"/>
            <a:ext cx="11094415" cy="3154680"/>
            <a:chOff x="548640" y="3383280"/>
            <a:chExt cx="11094415" cy="3154680"/>
          </a:xfrm>
        </p:grpSpPr>
        <p:sp>
          <p:nvSpPr>
            <p:cNvPr id="7" name="Text 5"/>
            <p:cNvSpPr/>
            <p:nvPr/>
          </p:nvSpPr>
          <p:spPr>
            <a:xfrm>
              <a:off x="548640" y="3383280"/>
              <a:ext cx="7315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</a:t>
              </a:r>
              <a:endParaRPr lang="en-US" sz="3600">
                <a:solidFill>
                  <a:srgbClr val="9648F3"/>
                </a:solidFill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554480" y="3383280"/>
              <a:ext cx="32004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Single Responsibility</a:t>
              </a:r>
              <a:endParaRPr lang="en-US" sz="1500"/>
            </a:p>
          </p:txBody>
        </p:sp>
        <p:sp>
          <p:nvSpPr>
            <p:cNvPr id="9" name="Text 7"/>
            <p:cNvSpPr/>
            <p:nvPr/>
          </p:nvSpPr>
          <p:spPr>
            <a:xfrm>
              <a:off x="5029200" y="3383280"/>
              <a:ext cx="661385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Strict separation of domain / service / repository / web layers.</a:t>
              </a:r>
              <a:endParaRPr lang="en-US" sz="1300"/>
            </a:p>
          </p:txBody>
        </p:sp>
        <p:sp>
          <p:nvSpPr>
            <p:cNvPr id="10" name="Shape 8"/>
            <p:cNvSpPr/>
            <p:nvPr/>
          </p:nvSpPr>
          <p:spPr>
            <a:xfrm>
              <a:off x="548640" y="3977640"/>
              <a:ext cx="11094415" cy="0"/>
            </a:xfrm>
            <a:prstGeom prst="line">
              <a:avLst/>
            </a:prstGeom>
            <a:noFill/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Text 9"/>
            <p:cNvSpPr/>
            <p:nvPr/>
          </p:nvSpPr>
          <p:spPr>
            <a:xfrm>
              <a:off x="548640" y="4023360"/>
              <a:ext cx="7315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O</a:t>
              </a:r>
              <a:endParaRPr lang="en-US" sz="3600">
                <a:solidFill>
                  <a:srgbClr val="9648F3"/>
                </a:solidFill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554480" y="4023360"/>
              <a:ext cx="32004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Open / Closed</a:t>
              </a:r>
              <a:endParaRPr lang="en-US" sz="1500"/>
            </a:p>
          </p:txBody>
        </p:sp>
        <p:sp>
          <p:nvSpPr>
            <p:cNvPr id="13" name="Text 11"/>
            <p:cNvSpPr/>
            <p:nvPr/>
          </p:nvSpPr>
          <p:spPr>
            <a:xfrm>
              <a:off x="5029200" y="4023360"/>
              <a:ext cx="661385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Add a Category or a repo implementation without touching existing code.</a:t>
              </a:r>
              <a:endParaRPr lang="en-US" sz="1300"/>
            </a:p>
          </p:txBody>
        </p:sp>
        <p:sp>
          <p:nvSpPr>
            <p:cNvPr id="14" name="Shape 12"/>
            <p:cNvSpPr/>
            <p:nvPr/>
          </p:nvSpPr>
          <p:spPr>
            <a:xfrm>
              <a:off x="548640" y="4617720"/>
              <a:ext cx="11094415" cy="0"/>
            </a:xfrm>
            <a:prstGeom prst="line">
              <a:avLst/>
            </a:prstGeom>
            <a:noFill/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Text 13"/>
            <p:cNvSpPr/>
            <p:nvPr/>
          </p:nvSpPr>
          <p:spPr>
            <a:xfrm>
              <a:off x="548640" y="4663440"/>
              <a:ext cx="7315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L</a:t>
              </a:r>
              <a:endParaRPr lang="en-US" sz="3600">
                <a:solidFill>
                  <a:srgbClr val="9648F3"/>
                </a:solidFill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554480" y="4663440"/>
              <a:ext cx="32004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Liskov Substitution</a:t>
              </a:r>
              <a:endParaRPr lang="en-US" sz="1500"/>
            </a:p>
          </p:txBody>
        </p:sp>
        <p:sp>
          <p:nvSpPr>
            <p:cNvPr id="17" name="Text 15"/>
            <p:cNvSpPr/>
            <p:nvPr/>
          </p:nvSpPr>
          <p:spPr>
            <a:xfrm>
              <a:off x="5029200" y="4663440"/>
              <a:ext cx="661385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Any User subclass works anywhere; any RequestRepository implementation too.</a:t>
              </a:r>
              <a:endParaRPr lang="en-US" sz="1300"/>
            </a:p>
          </p:txBody>
        </p:sp>
        <p:sp>
          <p:nvSpPr>
            <p:cNvPr id="18" name="Shape 16"/>
            <p:cNvSpPr/>
            <p:nvPr/>
          </p:nvSpPr>
          <p:spPr>
            <a:xfrm>
              <a:off x="548640" y="5257800"/>
              <a:ext cx="11094415" cy="0"/>
            </a:xfrm>
            <a:prstGeom prst="line">
              <a:avLst/>
            </a:prstGeom>
            <a:noFill/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Text 17"/>
            <p:cNvSpPr/>
            <p:nvPr/>
          </p:nvSpPr>
          <p:spPr>
            <a:xfrm>
              <a:off x="548640" y="5303520"/>
              <a:ext cx="7315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I</a:t>
              </a:r>
              <a:endParaRPr lang="en-US" sz="3600">
                <a:solidFill>
                  <a:srgbClr val="9648F3"/>
                </a:solidFill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554480" y="5303520"/>
              <a:ext cx="32004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Interface Segregation</a:t>
              </a:r>
              <a:endParaRPr lang="en-US" sz="1500"/>
            </a:p>
          </p:txBody>
        </p:sp>
        <p:sp>
          <p:nvSpPr>
            <p:cNvPr id="21" name="Text 19"/>
            <p:cNvSpPr/>
            <p:nvPr/>
          </p:nvSpPr>
          <p:spPr>
            <a:xfrm>
              <a:off x="5029200" y="5303520"/>
              <a:ext cx="661385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Two small repos - not one generic Repository&lt;T&gt;.</a:t>
              </a:r>
              <a:endParaRPr lang="en-US" sz="1300"/>
            </a:p>
          </p:txBody>
        </p:sp>
        <p:sp>
          <p:nvSpPr>
            <p:cNvPr id="22" name="Shape 20"/>
            <p:cNvSpPr/>
            <p:nvPr/>
          </p:nvSpPr>
          <p:spPr>
            <a:xfrm>
              <a:off x="548640" y="5897880"/>
              <a:ext cx="11094415" cy="0"/>
            </a:xfrm>
            <a:prstGeom prst="line">
              <a:avLst/>
            </a:prstGeom>
            <a:noFill/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Text 21"/>
            <p:cNvSpPr/>
            <p:nvPr/>
          </p:nvSpPr>
          <p:spPr>
            <a:xfrm>
              <a:off x="548640" y="5943600"/>
              <a:ext cx="7315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D</a:t>
              </a:r>
              <a:endParaRPr lang="en-US" sz="3600">
                <a:solidFill>
                  <a:srgbClr val="9648F3"/>
                </a:solidFill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1554480" y="5943600"/>
              <a:ext cx="32004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>
                  <a:solidFill>
                    <a:srgbClr val="0F172A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Dependency Inversion</a:t>
              </a:r>
              <a:endParaRPr lang="en-US" sz="1500"/>
            </a:p>
          </p:txBody>
        </p:sp>
        <p:sp>
          <p:nvSpPr>
            <p:cNvPr id="25" name="Text 23"/>
            <p:cNvSpPr/>
            <p:nvPr/>
          </p:nvSpPr>
          <p:spPr>
            <a:xfrm>
              <a:off x="5029200" y="5943600"/>
              <a:ext cx="6613855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52525B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Services depend on interfaces. Tests swap in a HashMap fake. Proven, not promised.</a:t>
              </a:r>
              <a:endParaRPr lang="en-US" sz="1300"/>
            </a:p>
          </p:txBody>
        </p:sp>
        <p:sp>
          <p:nvSpPr>
            <p:cNvPr id="26" name="Shape 24"/>
            <p:cNvSpPr/>
            <p:nvPr/>
          </p:nvSpPr>
          <p:spPr>
            <a:xfrm>
              <a:off x="548640" y="6537960"/>
              <a:ext cx="11094415" cy="0"/>
            </a:xfrm>
            <a:prstGeom prst="line">
              <a:avLst/>
            </a:prstGeom>
            <a:noFill/>
            <a:ln w="635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35" name="Text 4">
            <a:extLst>
              <a:ext uri="{FF2B5EF4-FFF2-40B4-BE49-F238E27FC236}">
                <a16:creationId xmlns:a16="http://schemas.microsoft.com/office/drawing/2014/main" id="{86D9DC13-FB2D-2B81-4641-EBE4138433B2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The architecture follows object-oriented design principles to improve maintainability.</a:t>
            </a:r>
            <a:endParaRPr lang="en-US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45FAB98E-7174-C3D0-99D3-DC86A0E2CC43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10</a:t>
            </a:r>
            <a:endParaRPr lang="en-US" sz="900">
              <a:latin typeface="Helvetica Neue"/>
            </a:endParaRPr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881B2FAD-6904-741A-3939-0DFC4BD777AF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A420E7-0AA9-80B1-A2CB-1D4B2C86A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A25761-F48D-6BD0-56C8-A6346F1A17B9}"/>
              </a:ext>
            </a:extLst>
          </p:cNvPr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>
                <a:solidFill>
                  <a:srgbClr val="9648F3"/>
                </a:solidFill>
                <a:latin typeface="Helvetica Neue"/>
                <a:ea typeface="Helvetica Neue"/>
              </a:rPr>
              <a:t>04</a:t>
            </a:r>
            <a:endParaRPr lang="en-US" sz="5600">
              <a:solidFill>
                <a:srgbClr val="9648F3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0CF60C-AE41-25FA-BAC1-7292E5C425A7}"/>
              </a:ext>
            </a:extLst>
          </p:cNvPr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AGENDA</a:t>
            </a:r>
            <a:endParaRPr lang="en-US" sz="11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E8ECC30-3382-A864-071D-BB08DAE9137B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latin typeface="Helvetica Neue"/>
                <a:ea typeface="Helvetica Neue"/>
                <a:cs typeface="Helvetica Neue" pitchFamily="34" charset="-120"/>
              </a:rPr>
              <a:t>Demonstration of the complete request workflow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43ECB3B-03D8-AE02-CD37-E44E4A035EDA}"/>
              </a:ext>
            </a:extLst>
          </p:cNvPr>
          <p:cNvSpPr/>
          <p:nvPr/>
        </p:nvSpPr>
        <p:spPr>
          <a:xfrm>
            <a:off x="575854" y="277095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52240AB-EB45-FD66-E28A-F1B4E71284ED}"/>
              </a:ext>
            </a:extLst>
          </p:cNvPr>
          <p:cNvSpPr/>
          <p:nvPr/>
        </p:nvSpPr>
        <p:spPr>
          <a:xfrm>
            <a:off x="1307374" y="277095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0F172A"/>
                </a:solidFill>
                <a:latin typeface="Helvetica Neue"/>
              </a:rPr>
              <a:t>emp1 submits a request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1B756D4-FD15-5065-329D-105A73DDAF72}"/>
              </a:ext>
            </a:extLst>
          </p:cNvPr>
          <p:cNvSpPr/>
          <p:nvPr/>
        </p:nvSpPr>
        <p:spPr>
          <a:xfrm>
            <a:off x="575854" y="354819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5D3967F-0E45-5F56-6F8A-16DAA4B8CC74}"/>
              </a:ext>
            </a:extLst>
          </p:cNvPr>
          <p:cNvSpPr/>
          <p:nvPr/>
        </p:nvSpPr>
        <p:spPr>
          <a:xfrm>
            <a:off x="575854" y="354819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0E89D4F-EE90-CECD-A551-8C96640629D3}"/>
              </a:ext>
            </a:extLst>
          </p:cNvPr>
          <p:cNvSpPr/>
          <p:nvPr/>
        </p:nvSpPr>
        <p:spPr>
          <a:xfrm>
            <a:off x="1307374" y="354819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0F172A"/>
                </a:solidFill>
                <a:latin typeface="Helvetica Neue"/>
              </a:rPr>
              <a:t>manager1 reassigns to agent2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4A84A98-2C12-2EE6-1267-7B1949908B53}"/>
              </a:ext>
            </a:extLst>
          </p:cNvPr>
          <p:cNvSpPr/>
          <p:nvPr/>
        </p:nvSpPr>
        <p:spPr>
          <a:xfrm>
            <a:off x="575854" y="432543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F8503DE-B512-9B0D-5B34-29B346751D2D}"/>
              </a:ext>
            </a:extLst>
          </p:cNvPr>
          <p:cNvSpPr/>
          <p:nvPr/>
        </p:nvSpPr>
        <p:spPr>
          <a:xfrm>
            <a:off x="575854" y="432543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0D5D8F-8A96-C8ED-066E-A43F12910E16}"/>
              </a:ext>
            </a:extLst>
          </p:cNvPr>
          <p:cNvSpPr/>
          <p:nvPr/>
        </p:nvSpPr>
        <p:spPr>
          <a:xfrm>
            <a:off x="1307374" y="432543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0F172A"/>
                </a:solidFill>
                <a:latin typeface="Helvetica Neue"/>
              </a:rPr>
              <a:t>agent2 moves to IN_PROGRESS</a:t>
            </a: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9843B09-316F-A95F-A6E2-01651A5D1335}"/>
              </a:ext>
            </a:extLst>
          </p:cNvPr>
          <p:cNvSpPr/>
          <p:nvPr/>
        </p:nvSpPr>
        <p:spPr>
          <a:xfrm>
            <a:off x="575854" y="510267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5264F0F-D0BE-9C4C-E847-C7F216B43BDF}"/>
              </a:ext>
            </a:extLst>
          </p:cNvPr>
          <p:cNvSpPr/>
          <p:nvPr/>
        </p:nvSpPr>
        <p:spPr>
          <a:xfrm>
            <a:off x="6336574" y="277095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/>
                <a:cs typeface="Calibri"/>
              </a:rPr>
              <a:t>04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68E8F36-BD13-C5A4-E77C-03743D80EF75}"/>
              </a:ext>
            </a:extLst>
          </p:cNvPr>
          <p:cNvSpPr/>
          <p:nvPr/>
        </p:nvSpPr>
        <p:spPr>
          <a:xfrm>
            <a:off x="7068094" y="277095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0F172A"/>
                </a:solidFill>
                <a:latin typeface="Helvetica Neue"/>
              </a:rPr>
              <a:t>a</a:t>
            </a:r>
            <a:r>
              <a:rPr lang="en-US">
                <a:solidFill>
                  <a:srgbClr val="0F172A"/>
                </a:solidFill>
              </a:rPr>
              <a:t>gent2 resolves the request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48D5D983-8496-8398-8D99-8E947EC66C59}"/>
              </a:ext>
            </a:extLst>
          </p:cNvPr>
          <p:cNvSpPr/>
          <p:nvPr/>
        </p:nvSpPr>
        <p:spPr>
          <a:xfrm>
            <a:off x="6336574" y="354819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1C66420-1974-A098-DCD9-3C9CDBFBF4DC}"/>
              </a:ext>
            </a:extLst>
          </p:cNvPr>
          <p:cNvSpPr/>
          <p:nvPr/>
        </p:nvSpPr>
        <p:spPr>
          <a:xfrm>
            <a:off x="6336574" y="354819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Helvetica Neue"/>
                <a:cs typeface="Calibri"/>
              </a:rPr>
              <a:t>05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1CC3C82-0A5E-5304-F012-C9FA7E490ABB}"/>
              </a:ext>
            </a:extLst>
          </p:cNvPr>
          <p:cNvSpPr/>
          <p:nvPr/>
        </p:nvSpPr>
        <p:spPr>
          <a:xfrm>
            <a:off x="7068094" y="354819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0F172A"/>
                </a:solidFill>
              </a:rPr>
              <a:t>emp1 closes the resolved ticket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6B2B4A6-1E0D-E2A2-2318-7711F8BFAC6C}"/>
              </a:ext>
            </a:extLst>
          </p:cNvPr>
          <p:cNvSpPr/>
          <p:nvPr/>
        </p:nvSpPr>
        <p:spPr>
          <a:xfrm>
            <a:off x="6336574" y="432543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42B0311-23A2-6BEB-66E2-E1CF72BAB9D0}"/>
              </a:ext>
            </a:extLst>
          </p:cNvPr>
          <p:cNvSpPr/>
          <p:nvPr/>
        </p:nvSpPr>
        <p:spPr>
          <a:xfrm>
            <a:off x="6336574" y="4325439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9648F3"/>
                </a:solidFill>
                <a:latin typeface="Helvetica Neue"/>
                <a:ea typeface="Calibri"/>
                <a:cs typeface="Calibri"/>
              </a:rPr>
              <a:t>06</a:t>
            </a:r>
            <a:endParaRPr lang="en-US" sz="4000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3454A81-8737-E15F-BB58-0985D57F6BC6}"/>
              </a:ext>
            </a:extLst>
          </p:cNvPr>
          <p:cNvSpPr/>
          <p:nvPr/>
        </p:nvSpPr>
        <p:spPr>
          <a:xfrm>
            <a:off x="7068094" y="4325439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>
                <a:solidFill>
                  <a:srgbClr val="0F172A"/>
                </a:solidFill>
              </a:rPr>
              <a:t>Open SQLite - three tables on disk</a:t>
            </a:r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8F2653D-358D-759D-19FF-31131CC3A1A4}"/>
              </a:ext>
            </a:extLst>
          </p:cNvPr>
          <p:cNvSpPr/>
          <p:nvPr/>
        </p:nvSpPr>
        <p:spPr>
          <a:xfrm>
            <a:off x="6336574" y="5102679"/>
            <a:ext cx="521208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34">
            <a:extLst>
              <a:ext uri="{FF2B5EF4-FFF2-40B4-BE49-F238E27FC236}">
                <a16:creationId xmlns:a16="http://schemas.microsoft.com/office/drawing/2014/main" id="{D5B2CD78-3E52-816B-DB63-939F9E60A3A6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  <a:ea typeface="Helvetica Neue"/>
              </a:rPr>
              <a:t>11</a:t>
            </a:r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1128914A-BDAC-1DFC-D7A9-C6C41AA9026B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</a:rPr>
              <a:t>Demo</a:t>
            </a:r>
            <a:endParaRPr lang="en-US" sz="3600" b="1">
              <a:solidFill>
                <a:srgbClr val="0F172A"/>
              </a:solidFill>
              <a:ea typeface="Calibri"/>
              <a:cs typeface="Calibri"/>
            </a:endParaRPr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A2538E29-FEF9-1B9A-8C91-A9BC91770622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5" name="Text 17">
            <a:extLst>
              <a:ext uri="{FF2B5EF4-FFF2-40B4-BE49-F238E27FC236}">
                <a16:creationId xmlns:a16="http://schemas.microsoft.com/office/drawing/2014/main" id="{91BF3B23-3C0C-0574-2FCD-97FF0E1D9330}"/>
              </a:ext>
            </a:extLst>
          </p:cNvPr>
          <p:cNvSpPr/>
          <p:nvPr/>
        </p:nvSpPr>
        <p:spPr>
          <a:xfrm>
            <a:off x="548640" y="5987512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>
                <a:solidFill>
                  <a:srgbClr val="9648F3"/>
                </a:solidFill>
                <a:latin typeface="Menlo" pitchFamily="34" charset="0"/>
                <a:ea typeface="Menlo" pitchFamily="34" charset="-122"/>
                <a:cs typeface="Menl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http://localhost:7070</a:t>
            </a:r>
            <a:r>
              <a:rPr lang="en-US" sz="1200">
                <a:solidFill>
                  <a:srgbClr val="9648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/// https://system-development-</a:t>
            </a:r>
            <a:r>
              <a:rPr lang="en-US" sz="1200" err="1">
                <a:solidFill>
                  <a:srgbClr val="9648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srs</a:t>
            </a:r>
            <a:r>
              <a:rPr lang="en-US" sz="1200">
                <a:solidFill>
                  <a:srgbClr val="9648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r>
              <a:rPr lang="en-US" sz="1200" err="1">
                <a:solidFill>
                  <a:srgbClr val="9648F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final.onrender.com</a:t>
            </a:r>
            <a:endParaRPr lang="en-US" sz="1200">
              <a:solidFill>
                <a:srgbClr val="9648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466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PROJECT MANAGEMENT</a:t>
            </a:r>
            <a:endParaRPr lang="en-US" sz="1100" dirty="0"/>
          </a:p>
        </p:txBody>
      </p: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905005ED-E011-76AD-A80E-7089396D3C7D}"/>
              </a:ext>
            </a:extLst>
          </p:cNvPr>
          <p:cNvGrpSpPr/>
          <p:nvPr/>
        </p:nvGrpSpPr>
        <p:grpSpPr>
          <a:xfrm>
            <a:off x="834847" y="3017520"/>
            <a:ext cx="10799064" cy="868680"/>
            <a:chOff x="510235" y="2971800"/>
            <a:chExt cx="10799064" cy="868680"/>
          </a:xfrm>
        </p:grpSpPr>
        <p:sp>
          <p:nvSpPr>
            <p:cNvPr id="7" name="Shape 5"/>
            <p:cNvSpPr/>
            <p:nvPr/>
          </p:nvSpPr>
          <p:spPr>
            <a:xfrm>
              <a:off x="510235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 6"/>
            <p:cNvSpPr/>
            <p:nvPr/>
          </p:nvSpPr>
          <p:spPr>
            <a:xfrm>
              <a:off x="510235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01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555955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50" err="1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Reqs</a:t>
              </a: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.</a:t>
              </a:r>
              <a:endParaRPr lang="en-US" sz="950">
                <a:latin typeface="Helvetica Neue"/>
                <a:ea typeface="Helvetica Neue"/>
              </a:endParaRPr>
            </a:p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clarification</a:t>
              </a:r>
              <a:endParaRPr lang="en-US" sz="950">
                <a:latin typeface="Helvetica Neue"/>
                <a:ea typeface="Calibri"/>
                <a:cs typeface="Calibri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1653235" y="3406140"/>
              <a:ext cx="64008" cy="0"/>
            </a:xfrm>
            <a:prstGeom prst="line">
              <a:avLst/>
            </a:prstGeom>
            <a:noFill/>
            <a:ln w="9525">
              <a:solidFill>
                <a:srgbClr val="A1A1A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Shape 9"/>
            <p:cNvSpPr/>
            <p:nvPr/>
          </p:nvSpPr>
          <p:spPr>
            <a:xfrm>
              <a:off x="1717243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Text 10"/>
            <p:cNvSpPr/>
            <p:nvPr/>
          </p:nvSpPr>
          <p:spPr>
            <a:xfrm>
              <a:off x="1717243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02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1762963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Calibri"/>
                  <a:cs typeface="Calibri"/>
                </a:rPr>
                <a:t>Reqs.</a:t>
              </a:r>
              <a:endParaRPr lang="en-US" sz="950">
                <a:solidFill>
                  <a:srgbClr val="000000"/>
                </a:solidFill>
                <a:latin typeface="Helvetica Neue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Calibri"/>
                  <a:cs typeface="Calibri"/>
                </a:rPr>
                <a:t>engineering</a:t>
              </a:r>
              <a:endParaRPr lang="en-US" sz="950">
                <a:solidFill>
                  <a:srgbClr val="000000"/>
                </a:solidFill>
                <a:latin typeface="Helvetica Neue"/>
                <a:ea typeface="Calibri"/>
                <a:cs typeface="Calibri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2860243" y="3406140"/>
              <a:ext cx="64008" cy="0"/>
            </a:xfrm>
            <a:prstGeom prst="line">
              <a:avLst/>
            </a:prstGeom>
            <a:noFill/>
            <a:ln w="9525">
              <a:solidFill>
                <a:srgbClr val="A1A1A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Shape 13"/>
            <p:cNvSpPr/>
            <p:nvPr/>
          </p:nvSpPr>
          <p:spPr>
            <a:xfrm>
              <a:off x="2924251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6" name="Text 14"/>
            <p:cNvSpPr/>
            <p:nvPr/>
          </p:nvSpPr>
          <p:spPr>
            <a:xfrm>
              <a:off x="2924251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03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2969971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OO</a:t>
              </a:r>
              <a:endParaRPr lang="en-US" sz="950">
                <a:latin typeface="Helvetica Neue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design</a:t>
              </a:r>
              <a:endParaRPr lang="en-US" sz="950">
                <a:latin typeface="Helvetica Neue"/>
                <a:ea typeface="Calibri"/>
                <a:cs typeface="Calibri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4067251" y="3406140"/>
              <a:ext cx="64008" cy="0"/>
            </a:xfrm>
            <a:prstGeom prst="line">
              <a:avLst/>
            </a:prstGeom>
            <a:noFill/>
            <a:ln w="9525">
              <a:solidFill>
                <a:srgbClr val="A1A1A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9" name="Shape 17"/>
            <p:cNvSpPr/>
            <p:nvPr/>
          </p:nvSpPr>
          <p:spPr>
            <a:xfrm>
              <a:off x="4131259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0" name="Text 18"/>
            <p:cNvSpPr/>
            <p:nvPr/>
          </p:nvSpPr>
          <p:spPr>
            <a:xfrm>
              <a:off x="4131259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04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4176979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UML</a:t>
              </a:r>
              <a:endParaRPr lang="en-US" sz="950">
                <a:latin typeface="Helvetica Neue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diagram</a:t>
              </a:r>
              <a:endParaRPr lang="en-US" sz="950">
                <a:latin typeface="Helvetica Neue"/>
                <a:ea typeface="Calibri"/>
                <a:cs typeface="Calibri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5274259" y="3406140"/>
              <a:ext cx="64008" cy="0"/>
            </a:xfrm>
            <a:prstGeom prst="line">
              <a:avLst/>
            </a:prstGeom>
            <a:noFill/>
            <a:ln w="9525">
              <a:solidFill>
                <a:srgbClr val="A1A1A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3" name="Shape 21"/>
            <p:cNvSpPr/>
            <p:nvPr/>
          </p:nvSpPr>
          <p:spPr>
            <a:xfrm>
              <a:off x="5338267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4" name="Text 22"/>
            <p:cNvSpPr/>
            <p:nvPr/>
          </p:nvSpPr>
          <p:spPr>
            <a:xfrm>
              <a:off x="5338267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05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5383987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Implementation</a:t>
              </a:r>
              <a:endParaRPr lang="en-US" sz="950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plan</a:t>
              </a:r>
              <a:endParaRPr lang="en-US" sz="95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6481267" y="3406140"/>
              <a:ext cx="64008" cy="0"/>
            </a:xfrm>
            <a:prstGeom prst="line">
              <a:avLst/>
            </a:prstGeom>
            <a:noFill/>
            <a:ln w="9525">
              <a:solidFill>
                <a:srgbClr val="A1A1A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7" name="Shape 25"/>
            <p:cNvSpPr/>
            <p:nvPr/>
          </p:nvSpPr>
          <p:spPr>
            <a:xfrm>
              <a:off x="6545275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28" name="Text 26"/>
            <p:cNvSpPr/>
            <p:nvPr/>
          </p:nvSpPr>
          <p:spPr>
            <a:xfrm>
              <a:off x="6545275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06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6590995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950">
                  <a:solidFill>
                    <a:srgbClr val="18181B"/>
                  </a:solidFill>
                  <a:latin typeface="Helvetica Neue"/>
                  <a:ea typeface="Calibri"/>
                </a:rPr>
                <a:t>Java</a:t>
              </a:r>
              <a:endParaRPr lang="en-US" sz="950">
                <a:solidFill>
                  <a:srgbClr val="000000"/>
                </a:solidFill>
                <a:latin typeface="Helvetica Neue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950" err="1">
                  <a:solidFill>
                    <a:srgbClr val="18181B"/>
                  </a:solidFill>
                  <a:latin typeface="Helvetica Neue"/>
                  <a:ea typeface="Calibri"/>
                </a:rPr>
                <a:t>impl</a:t>
              </a:r>
              <a:r>
                <a:rPr lang="en-US" sz="950">
                  <a:solidFill>
                    <a:srgbClr val="18181B"/>
                  </a:solidFill>
                  <a:latin typeface="Helvetica Neue"/>
                  <a:ea typeface="Calibri"/>
                </a:rPr>
                <a:t>.</a:t>
              </a:r>
              <a:endParaRPr lang="en-US" sz="950">
                <a:ea typeface="Calibri"/>
                <a:cs typeface="Calibri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7688275" y="3406140"/>
              <a:ext cx="64008" cy="0"/>
            </a:xfrm>
            <a:prstGeom prst="line">
              <a:avLst/>
            </a:prstGeom>
            <a:noFill/>
            <a:ln w="9525">
              <a:solidFill>
                <a:srgbClr val="A1A1A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1" name="Shape 29"/>
            <p:cNvSpPr/>
            <p:nvPr/>
          </p:nvSpPr>
          <p:spPr>
            <a:xfrm>
              <a:off x="7752283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2" name="Text 30"/>
            <p:cNvSpPr/>
            <p:nvPr/>
          </p:nvSpPr>
          <p:spPr>
            <a:xfrm>
              <a:off x="7752283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07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7798003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/>
                  <a:cs typeface="Helvetica Neue" pitchFamily="34" charset="-120"/>
                </a:rPr>
                <a:t>Persistence</a:t>
              </a:r>
              <a:endParaRPr lang="en-US" sz="950">
                <a:latin typeface="Helvetica Neue"/>
                <a:ea typeface="Calibri"/>
                <a:cs typeface="Calibri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8895283" y="3406140"/>
              <a:ext cx="64008" cy="0"/>
            </a:xfrm>
            <a:prstGeom prst="line">
              <a:avLst/>
            </a:prstGeom>
            <a:noFill/>
            <a:ln w="9525">
              <a:solidFill>
                <a:srgbClr val="A1A1A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5" name="Shape 33"/>
            <p:cNvSpPr/>
            <p:nvPr/>
          </p:nvSpPr>
          <p:spPr>
            <a:xfrm>
              <a:off x="8959291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6" name="Text 34"/>
            <p:cNvSpPr/>
            <p:nvPr/>
          </p:nvSpPr>
          <p:spPr>
            <a:xfrm>
              <a:off x="8959291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08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9005011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 pitchFamily="34" charset="-122"/>
                  <a:cs typeface="Helvetica Neue" pitchFamily="34" charset="-120"/>
                </a:rPr>
                <a:t>Testing</a:t>
              </a:r>
              <a:endParaRPr lang="en-US" sz="950">
                <a:latin typeface="Helvetica Neue"/>
                <a:ea typeface="Calibri"/>
                <a:cs typeface="Calibri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10102291" y="3406140"/>
              <a:ext cx="64008" cy="0"/>
            </a:xfrm>
            <a:prstGeom prst="line">
              <a:avLst/>
            </a:prstGeom>
            <a:noFill/>
            <a:ln w="9525">
              <a:solidFill>
                <a:srgbClr val="A1A1AA"/>
              </a:solidFill>
              <a:prstDash val="solid"/>
              <a:tailEnd type="triangle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9" name="Shape 37"/>
            <p:cNvSpPr/>
            <p:nvPr/>
          </p:nvSpPr>
          <p:spPr>
            <a:xfrm>
              <a:off x="10166299" y="2971800"/>
              <a:ext cx="1143000" cy="86868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40" name="Text 38"/>
            <p:cNvSpPr/>
            <p:nvPr/>
          </p:nvSpPr>
          <p:spPr>
            <a:xfrm>
              <a:off x="10166299" y="3044952"/>
              <a:ext cx="1143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9648F3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</a:rPr>
                <a:t>09</a:t>
              </a:r>
              <a:endParaRPr lang="en-US" sz="1200">
                <a:solidFill>
                  <a:srgbClr val="9648F3"/>
                </a:solidFill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10212019" y="3337560"/>
              <a:ext cx="1051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 pitchFamily="34" charset="-122"/>
                  <a:cs typeface="Helvetica Neue" pitchFamily="34" charset="-120"/>
                </a:rPr>
                <a:t>Docs &amp;</a:t>
              </a:r>
              <a:endParaRPr lang="en-US" sz="950">
                <a:latin typeface="Helvetica Neue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950">
                  <a:solidFill>
                    <a:srgbClr val="18181B"/>
                  </a:solidFill>
                  <a:latin typeface="Helvetica Neue"/>
                  <a:ea typeface="Helvetica Neue" pitchFamily="34" charset="-122"/>
                  <a:cs typeface="Helvetica Neue" pitchFamily="34" charset="-120"/>
                </a:rPr>
                <a:t>demo</a:t>
              </a:r>
              <a:endParaRPr lang="en-US" sz="950">
                <a:latin typeface="Helvetica Neue"/>
                <a:ea typeface="Calibri"/>
                <a:cs typeface="Calibri"/>
              </a:endParaRPr>
            </a:p>
          </p:txBody>
        </p:sp>
      </p:grpSp>
      <p:sp>
        <p:nvSpPr>
          <p:cNvPr id="42" name="Text 40"/>
          <p:cNvSpPr/>
          <p:nvPr/>
        </p:nvSpPr>
        <p:spPr>
          <a:xfrm>
            <a:off x="510235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TEAM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0235" y="4590288"/>
            <a:ext cx="1371600" cy="0"/>
          </a:xfrm>
          <a:prstGeom prst="line">
            <a:avLst/>
          </a:prstGeom>
          <a:noFill/>
          <a:ln w="12700">
            <a:solidFill>
              <a:srgbClr val="E54AA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Shape 42"/>
          <p:cNvSpPr/>
          <p:nvPr/>
        </p:nvSpPr>
        <p:spPr>
          <a:xfrm>
            <a:off x="510235" y="4754880"/>
            <a:ext cx="2743200" cy="14630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Shape 43"/>
          <p:cNvSpPr/>
          <p:nvPr/>
        </p:nvSpPr>
        <p:spPr>
          <a:xfrm>
            <a:off x="510235" y="4754880"/>
            <a:ext cx="54864" cy="146304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693115" y="4864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Kevin Q.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3115" y="5212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&amp; Service Layer</a:t>
            </a:r>
            <a:endParaRPr lang="en-US" sz="1100" dirty="0">
              <a:solidFill>
                <a:srgbClr val="9648F3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693115" y="5623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2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Main · AuthService · RequestService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344875" y="4754880"/>
            <a:ext cx="2743200" cy="14630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Shape 48"/>
          <p:cNvSpPr/>
          <p:nvPr/>
        </p:nvSpPr>
        <p:spPr>
          <a:xfrm>
            <a:off x="3344875" y="4754880"/>
            <a:ext cx="54864" cy="146304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3527755" y="4864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Melvin B.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3527755" y="5212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Domain &amp; State Machine</a:t>
            </a:r>
            <a:endParaRPr lang="en-US" sz="1100" dirty="0">
              <a:solidFill>
                <a:srgbClr val="9648F3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3527755" y="5623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2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Request · User hierarchy · 46 tests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179515" y="4754880"/>
            <a:ext cx="2743200" cy="14630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5" name="Shape 53"/>
          <p:cNvSpPr/>
          <p:nvPr/>
        </p:nvSpPr>
        <p:spPr>
          <a:xfrm>
            <a:off x="6179515" y="4754880"/>
            <a:ext cx="54864" cy="146304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56" name="Text 54"/>
          <p:cNvSpPr/>
          <p:nvPr/>
        </p:nvSpPr>
        <p:spPr>
          <a:xfrm>
            <a:off x="6362395" y="4864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Patricia G.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362395" y="5212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Documentation &amp; UML</a:t>
            </a:r>
            <a:endParaRPr lang="en-US" sz="1100" dirty="0">
              <a:solidFill>
                <a:srgbClr val="9648F3"/>
              </a:solidFill>
            </a:endParaRPr>
          </a:p>
        </p:txBody>
      </p:sp>
      <p:sp>
        <p:nvSpPr>
          <p:cNvPr id="58" name="Text 56"/>
          <p:cNvSpPr/>
          <p:nvPr/>
        </p:nvSpPr>
        <p:spPr>
          <a:xfrm>
            <a:off x="6362395" y="5623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2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OOAD doc · UML · ER · SOLID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014155" y="4754880"/>
            <a:ext cx="2743200" cy="14630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0" name="Shape 58"/>
          <p:cNvSpPr/>
          <p:nvPr/>
        </p:nvSpPr>
        <p:spPr>
          <a:xfrm>
            <a:off x="9014155" y="4754880"/>
            <a:ext cx="54864" cy="1463040"/>
          </a:xfrm>
          <a:prstGeom prst="rect">
            <a:avLst/>
          </a:prstGeom>
          <a:solidFill>
            <a:srgbClr val="9648F3"/>
          </a:solidFill>
          <a:ln w="12700">
            <a:solidFill>
              <a:srgbClr val="9648F3"/>
            </a:solidFill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61" name="Text 59"/>
          <p:cNvSpPr/>
          <p:nvPr/>
        </p:nvSpPr>
        <p:spPr>
          <a:xfrm>
            <a:off x="9197035" y="48646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Kaan A.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9197035" y="5212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Persistence &amp; Demo</a:t>
            </a:r>
            <a:endParaRPr lang="en-US" sz="1100" dirty="0">
              <a:solidFill>
                <a:srgbClr val="9648F3"/>
              </a:solidFill>
            </a:endParaRPr>
          </a:p>
        </p:txBody>
      </p:sp>
      <p:sp>
        <p:nvSpPr>
          <p:cNvPr id="63" name="Text 61"/>
          <p:cNvSpPr/>
          <p:nvPr/>
        </p:nvSpPr>
        <p:spPr>
          <a:xfrm>
            <a:off x="9197035" y="5623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52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schema.sql · SQLite repos · live demo</a:t>
            </a:r>
            <a:endParaRPr lang="en-US" sz="1050" dirty="0"/>
          </a:p>
        </p:txBody>
      </p:sp>
      <p:sp>
        <p:nvSpPr>
          <p:cNvPr id="68" name="Text 3">
            <a:extLst>
              <a:ext uri="{FF2B5EF4-FFF2-40B4-BE49-F238E27FC236}">
                <a16:creationId xmlns:a16="http://schemas.microsoft.com/office/drawing/2014/main" id="{03FB95A1-E786-97E6-21ED-DBC92CA2F932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Project organization and team </a:t>
            </a:r>
            <a:r>
              <a:rPr lang="en-US" sz="3600" b="1" err="1">
                <a:solidFill>
                  <a:srgbClr val="0F172A"/>
                </a:solidFill>
                <a:latin typeface="Helvetica Neue"/>
              </a:rPr>
              <a:t>resposibilities</a:t>
            </a:r>
            <a:endParaRPr lang="en-US" sz="3600" err="1">
              <a:solidFill>
                <a:srgbClr val="0F172A"/>
              </a:solidFill>
              <a:latin typeface="Helvetica Neue"/>
            </a:endParaRPr>
          </a:p>
        </p:txBody>
      </p:sp>
      <p:sp>
        <p:nvSpPr>
          <p:cNvPr id="70" name="Text 4">
            <a:extLst>
              <a:ext uri="{FF2B5EF4-FFF2-40B4-BE49-F238E27FC236}">
                <a16:creationId xmlns:a16="http://schemas.microsoft.com/office/drawing/2014/main" id="{FB64EDEB-B27E-0B12-2FD1-553E891A6102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The project was developed step by step with clear responsibilities and phases.</a:t>
            </a:r>
            <a:endParaRPr lang="en-US"/>
          </a:p>
        </p:txBody>
      </p:sp>
      <p:sp>
        <p:nvSpPr>
          <p:cNvPr id="72" name="Text 17">
            <a:extLst>
              <a:ext uri="{FF2B5EF4-FFF2-40B4-BE49-F238E27FC236}">
                <a16:creationId xmlns:a16="http://schemas.microsoft.com/office/drawing/2014/main" id="{56E83B4C-5AC5-9065-90D6-BC6EA17610E3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74" name="Text 34">
            <a:extLst>
              <a:ext uri="{FF2B5EF4-FFF2-40B4-BE49-F238E27FC236}">
                <a16:creationId xmlns:a16="http://schemas.microsoft.com/office/drawing/2014/main" id="{EC29FF87-C134-9E19-1475-08F6CA76F588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12</a:t>
            </a:r>
            <a:endParaRPr lang="en-US" sz="900">
              <a:latin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BENEFITS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268435"/>
            <a:ext cx="5532120" cy="187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TESTABILITY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556362"/>
            <a:ext cx="5532120" cy="23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46 tests · 3 tiers · &lt; 3 s</a:t>
            </a:r>
            <a:endParaRPr lang="en-US" sz="1600" dirty="0">
              <a:solidFill>
                <a:srgbClr val="9648F3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890227"/>
            <a:ext cx="5532120" cy="206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 lets us swap SQLite for a HashMap fake in tests.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5532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263640" y="3268435"/>
            <a:ext cx="5532120" cy="187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EXTENSIBILITY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63640" y="3556362"/>
            <a:ext cx="5532120" cy="23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/ Closed</a:t>
            </a:r>
            <a:endParaRPr lang="en-US" sz="1600" dirty="0">
              <a:solidFill>
                <a:srgbClr val="9648F3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63640" y="3890227"/>
            <a:ext cx="5532120" cy="206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Add a Category or a new repository </a:t>
            </a:r>
            <a:r>
              <a:rPr lang="en-US" sz="110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</a:t>
            </a:r>
            <a:r>
              <a:rPr lang="en-US" sz="11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zero changes elsewhere.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4114800"/>
            <a:ext cx="5532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48640" y="4228555"/>
            <a:ext cx="5532120" cy="187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SAFETY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502875"/>
            <a:ext cx="5532120" cy="252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 SQL-injection vectors</a:t>
            </a:r>
            <a:endParaRPr lang="en-US" sz="1600" dirty="0">
              <a:solidFill>
                <a:srgbClr val="9648F3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4850347"/>
            <a:ext cx="5532120" cy="206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query uses PreparedStatement with bound parameters.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5532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6263640" y="4228555"/>
            <a:ext cx="5532120" cy="187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MAINTAINABILITY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4502875"/>
            <a:ext cx="5532120" cy="252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packages · downward only</a:t>
            </a:r>
            <a:endParaRPr lang="en-US" sz="1600" dirty="0">
              <a:solidFill>
                <a:srgbClr val="9648F3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63640" y="4850347"/>
            <a:ext cx="5532120" cy="206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package owns one concern. Change one thing in isolation.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5074920"/>
            <a:ext cx="5532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48640" y="5188675"/>
            <a:ext cx="5532120" cy="187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PORTABILITY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5476602"/>
            <a:ext cx="5532120" cy="23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jar · &lt; 10 MB · 1 command</a:t>
            </a:r>
            <a:endParaRPr lang="en-US" sz="1600" dirty="0">
              <a:solidFill>
                <a:srgbClr val="9648F3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5810467"/>
            <a:ext cx="5532120" cy="206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Bundled SQLite </a:t>
            </a:r>
            <a:r>
              <a:rPr lang="en-US" sz="110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</a:t>
            </a:r>
            <a:r>
              <a:rPr lang="en-US" sz="11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no install. mvn package, then java -jar.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035040"/>
            <a:ext cx="5532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6263640" y="5188675"/>
            <a:ext cx="5532120" cy="187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DEFENSIBILITY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5476602"/>
            <a:ext cx="5532120" cy="238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line explainable</a:t>
            </a:r>
            <a:endParaRPr lang="en-US" sz="1600" dirty="0">
              <a:solidFill>
                <a:srgbClr val="9648F3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263640" y="5810467"/>
            <a:ext cx="5532120" cy="206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reflection magic. No framework that hides behavior.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6035040"/>
            <a:ext cx="55321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A8A5EB10-40A8-00EC-6CEA-77FA154A2F5C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Benefits of the system architecture</a:t>
            </a:r>
            <a:endParaRPr lang="en-US" sz="3600">
              <a:solidFill>
                <a:srgbClr val="0F172A"/>
              </a:solidFill>
              <a:latin typeface="Helvetica Neue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CFFA194A-797F-9E61-EFB0-C7F48D070978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Our design improves scalability, testing, security, and maintainability.</a:t>
            </a:r>
            <a:endParaRPr lang="en-US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79DD7D2D-EB40-8A0F-DAC7-39B8B2BFDCB7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903E4C0C-245E-E913-D811-504775F7EB96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13</a:t>
            </a:r>
            <a:endParaRPr lang="en-US" sz="900">
              <a:latin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dirty="0">
                <a:solidFill>
                  <a:srgbClr val="9648F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5600" dirty="0">
              <a:solidFill>
                <a:srgbClr val="9648F3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 PROVENANCE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42804"/>
            <a:ext cx="5532120" cy="2743200"/>
          </a:xfrm>
          <a:prstGeom prst="rect">
            <a:avLst/>
          </a:prstGeom>
          <a:solidFill>
            <a:srgbClr val="FAFAFA"/>
          </a:solidFill>
          <a:ln w="19050">
            <a:noFill/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731520" y="3025684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>
                <a:solidFill>
                  <a:srgbClr val="9648F3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AUTHORED BY THE TEAM</a:t>
            </a:r>
            <a:endParaRPr lang="en-US">
              <a:solidFill>
                <a:srgbClr val="9648F3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348288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Object-oriented design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369319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 hierarchy · abstract User · composition with Comment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89436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Lifecycle state machine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410467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ALLOWED_TRANSITIONS map · rule enforcement in transitionTo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30584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Authorization rules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451615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 × action permission matrix in RequestService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471732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SQL schema design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492763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Tables · foreign keys · CASCADE · indexes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512880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JUnit test suite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533911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25B"/>
                </a:solidFill>
                <a:latin typeface="Helvetica Neue"/>
                <a:ea typeface="Helvetica Neue"/>
                <a:cs typeface="Helvetica Neue" pitchFamily="34" charset="-120"/>
              </a:rPr>
              <a:t>46 tests across domain, service, integration tiers</a:t>
            </a:r>
            <a:endParaRPr lang="en-US" sz="1000" dirty="0">
              <a:latin typeface="Helvetica Neue"/>
              <a:ea typeface="Helvetica Neue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63640" y="2842804"/>
            <a:ext cx="5532120" cy="2743200"/>
          </a:xfrm>
          <a:prstGeom prst="rect">
            <a:avLst/>
          </a:prstGeom>
          <a:solidFill>
            <a:srgbClr val="FAFAFA"/>
          </a:solidFill>
          <a:ln w="19050">
            <a:noFill/>
            <a:prstDash val="solid"/>
          </a:ln>
        </p:spPr>
        <p:txBody>
          <a:bodyPr/>
          <a:lstStyle/>
          <a:p>
            <a:endParaRPr lang="de-DE">
              <a:solidFill>
                <a:srgbClr val="9648F3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46520" y="3025684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>
                <a:solidFill>
                  <a:srgbClr val="52525B"/>
                </a:solidFill>
                <a:latin typeface="Helvetica Neue"/>
                <a:ea typeface="Helvetica Neue" pitchFamily="34" charset="-122"/>
                <a:cs typeface="Helvetica Neue" pitchFamily="34" charset="-120"/>
              </a:rPr>
              <a:t>AI-ASSISTED  (Anthropic Claude)</a:t>
            </a:r>
            <a:endParaRPr lang="en-US">
              <a:solidFill>
                <a:srgbClr val="52525B"/>
              </a:solidFill>
              <a:latin typeface="Helvetica Neue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37960" y="348288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HTML markup &amp; CSS styling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75120" y="369319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 visual design </a:t>
            </a:r>
            <a:r>
              <a:rPr lang="en-US" sz="100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</a:t>
            </a:r>
            <a:r>
              <a:rPr lang="en-US" sz="10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outside module scope; AI-generated, reviewed by team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416868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Boilerplate code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75120" y="437899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JDBC row-mapping helpers, Javalin route bindings </a:t>
            </a:r>
            <a:r>
              <a:rPr lang="en-US" sz="100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</a:t>
            </a:r>
            <a:r>
              <a:rPr lang="en-US" sz="10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AI templates, adapted by team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4854484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▸ Documentation drafts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75120" y="506479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OOAD prose, README </a:t>
            </a:r>
            <a:r>
              <a:rPr lang="en-US" sz="100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</a:t>
            </a:r>
            <a:r>
              <a:rPr lang="en-US" sz="1000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content reviewed, edited, approved by team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5720443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2525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line was reviewed and is owned by the team.  Full statement in docs/code-provenance.md</a:t>
            </a:r>
            <a:endParaRPr lang="en-US" sz="1100" dirty="0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747CF1B0-F158-01E2-F92B-AA17A0D42BD3}"/>
              </a:ext>
            </a:extLst>
          </p:cNvPr>
          <p:cNvSpPr/>
          <p:nvPr/>
        </p:nvSpPr>
        <p:spPr>
          <a:xfrm>
            <a:off x="548640" y="2252254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52525B"/>
                </a:solidFill>
                <a:ea typeface="+mn-lt"/>
                <a:cs typeface="+mn-lt"/>
              </a:rPr>
              <a:t>Which parts were created by the team and where did AI support us?</a:t>
            </a:r>
            <a:endParaRPr lang="en-US" sz="1400">
              <a:solidFill>
                <a:srgbClr val="52525B"/>
              </a:solidFill>
              <a:ea typeface="Calibri"/>
              <a:cs typeface="Calibri"/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D596C081-EBAB-536B-0380-E4E3C35639C7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Team contributions and use of AI tools</a:t>
            </a:r>
            <a:endParaRPr lang="en-US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EA77E0F2-7F72-4119-D0A2-F0DA04037C13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3699AE46-3569-5A8F-97DC-FFDB697249A3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14</a:t>
            </a:r>
            <a:endParaRPr lang="en-US" sz="900">
              <a:latin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CAE1A-944B-058D-CFC0-889114585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3D7F8C-153D-1755-DF7F-4BA740C9FCB3}"/>
              </a:ext>
            </a:extLst>
          </p:cNvPr>
          <p:cNvSpPr/>
          <p:nvPr/>
        </p:nvSpPr>
        <p:spPr>
          <a:xfrm>
            <a:off x="548640" y="4114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>
                <a:solidFill>
                  <a:srgbClr val="9648F3"/>
                </a:solidFill>
                <a:latin typeface="Helvetica Neue"/>
              </a:rPr>
              <a:t>07</a:t>
            </a:r>
            <a:endParaRPr lang="en-US" sz="5600">
              <a:solidFill>
                <a:srgbClr val="9648F3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9E5644-2011-F2C2-0BC7-F3C79282E094}"/>
              </a:ext>
            </a:extLst>
          </p:cNvPr>
          <p:cNvSpPr/>
          <p:nvPr/>
        </p:nvSpPr>
        <p:spPr>
          <a:xfrm>
            <a:off x="1691640" y="640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>
                <a:solidFill>
                  <a:srgbClr val="52525B"/>
                </a:solidFill>
                <a:latin typeface="Helvetica Neue"/>
              </a:rPr>
              <a:t>Q&amp;A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ECBE52C-B396-5538-6931-578E50AD67FD}"/>
              </a:ext>
            </a:extLst>
          </p:cNvPr>
          <p:cNvSpPr/>
          <p:nvPr/>
        </p:nvSpPr>
        <p:spPr>
          <a:xfrm>
            <a:off x="548640" y="2661633"/>
            <a:ext cx="11094415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600">
                <a:solidFill>
                  <a:srgbClr val="52525B"/>
                </a:solidFill>
                <a:latin typeface="Helvetica Neue"/>
                <a:ea typeface="Helvetica Neue"/>
              </a:rPr>
              <a:t>We are now ready to</a:t>
            </a:r>
          </a:p>
          <a:p>
            <a:r>
              <a:rPr lang="en-US" sz="3600">
                <a:solidFill>
                  <a:srgbClr val="52525B"/>
                </a:solidFill>
                <a:latin typeface="Helvetica Neue"/>
                <a:ea typeface="Helvetica Neue"/>
              </a:rPr>
              <a:t>answer your questions.</a:t>
            </a:r>
            <a:endParaRPr lang="en-US" sz="3600">
              <a:solidFill>
                <a:srgbClr val="0F172A"/>
              </a:solidFill>
              <a:latin typeface="Helvetica Neue"/>
              <a:ea typeface="Helvetica Neue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CFB61A7-771C-7E41-52F3-FB9225722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928351"/>
            <a:ext cx="5248143" cy="5301804"/>
          </a:xfrm>
          <a:prstGeom prst="rect">
            <a:avLst/>
          </a:prstGeom>
        </p:spPr>
      </p:pic>
      <p:sp>
        <p:nvSpPr>
          <p:cNvPr id="39" name="Text 3">
            <a:extLst>
              <a:ext uri="{FF2B5EF4-FFF2-40B4-BE49-F238E27FC236}">
                <a16:creationId xmlns:a16="http://schemas.microsoft.com/office/drawing/2014/main" id="{33CA474D-EF22-2A3E-AC75-415D06669F76}"/>
              </a:ext>
            </a:extLst>
          </p:cNvPr>
          <p:cNvSpPr/>
          <p:nvPr/>
        </p:nvSpPr>
        <p:spPr>
          <a:xfrm>
            <a:off x="548640" y="1554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0F172A"/>
                </a:solidFill>
                <a:latin typeface="Helvetica Neue"/>
              </a:rPr>
              <a:t>Thank you for your attention.</a:t>
            </a:r>
            <a:endParaRPr lang="en-US" sz="3600">
              <a:solidFill>
                <a:srgbClr val="0F172A"/>
              </a:solidFill>
              <a:latin typeface="Helvetica Neue"/>
            </a:endParaRPr>
          </a:p>
        </p:txBody>
      </p:sp>
      <p:sp>
        <p:nvSpPr>
          <p:cNvPr id="35" name="Text 17">
            <a:extLst>
              <a:ext uri="{FF2B5EF4-FFF2-40B4-BE49-F238E27FC236}">
                <a16:creationId xmlns:a16="http://schemas.microsoft.com/office/drawing/2014/main" id="{13ADAFD4-20E9-07F1-98B2-4D08C7B2A59B}"/>
              </a:ext>
            </a:extLst>
          </p:cNvPr>
          <p:cNvSpPr/>
          <p:nvPr/>
        </p:nvSpPr>
        <p:spPr>
          <a:xfrm>
            <a:off x="548640" y="636977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>
                <a:solidFill>
                  <a:srgbClr val="A1A1A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SERVICE REQUEST MANAGEMENT SYSTEM</a:t>
            </a:r>
            <a:endParaRPr lang="en-US" sz="90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528B8854-3295-1B2C-13DC-2F95912379BA}"/>
              </a:ext>
            </a:extLst>
          </p:cNvPr>
          <p:cNvSpPr/>
          <p:nvPr/>
        </p:nvSpPr>
        <p:spPr>
          <a:xfrm>
            <a:off x="10547952" y="63697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>
                <a:solidFill>
                  <a:srgbClr val="52525B"/>
                </a:solidFill>
                <a:latin typeface="Helvetica Neue"/>
              </a:rPr>
              <a:t>14</a:t>
            </a:r>
            <a:endParaRPr lang="en-US" sz="900"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27723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1274</Words>
  <Application>Microsoft Macintosh PowerPoint</Application>
  <PresentationFormat>Breitbild</PresentationFormat>
  <Paragraphs>337</Paragraphs>
  <Slides>15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Arial</vt:lpstr>
      <vt:lpstr>Calibri</vt:lpstr>
      <vt:lpstr>Helvetica Neue</vt:lpstr>
      <vt:lpstr>Menlo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Service Request Management System</dc:title>
  <dc:subject>PptxGenJS Presentation</dc:subject>
  <dc:creator>Systems Development — Group Project</dc:creator>
  <cp:lastModifiedBy>Kevin Luca Queckboerner</cp:lastModifiedBy>
  <cp:revision>4</cp:revision>
  <dcterms:created xsi:type="dcterms:W3CDTF">2026-05-17T12:44:45Z</dcterms:created>
  <dcterms:modified xsi:type="dcterms:W3CDTF">2026-05-18T18:19:44Z</dcterms:modified>
</cp:coreProperties>
</file>