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8735" y="457200"/>
            <a:ext cx="320040" cy="32004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DEVELOPMENT · GROUP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Service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Management System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9905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web app that turns internal service emails into a single, accountable queue.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 School · Prof. Dr. Kai Spohrer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_______  ·  _______  ·  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service requests live in email. That's the problem.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Medium-sized company.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internal service areas — IT, Facilities, HR, Supply, Access. Employees send email.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get lost.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a shared view. No SLA. Managers can't see SLA risks until angry employees escalate.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that with one shared queue. Three roles use it differently, but they see the same data.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0" y="1920240"/>
            <a:ext cx="4572000" cy="109728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920240"/>
            <a:ext cx="73152" cy="1097280"/>
          </a:xfrm>
          <a:prstGeom prst="rect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threads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2423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scroll off the inbox.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3200400"/>
            <a:ext cx="4572000" cy="109728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3200400"/>
            <a:ext cx="73152" cy="1097280"/>
          </a:xfrm>
          <a:prstGeom prst="rect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lifecycle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the state of a ticket.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0" y="4480560"/>
            <a:ext cx="4572000" cy="109728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4480560"/>
            <a:ext cx="73152" cy="1097280"/>
          </a:xfrm>
          <a:prstGeom prst="rect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4590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oversight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4983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SLA risk.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roles, one shared queue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66160" cy="402336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35661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new requests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own requests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resolved requests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3566160" cy="402336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103120"/>
            <a:ext cx="35661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Agent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ownership of requests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through lifecycle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info when needed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3920" y="2103120"/>
            <a:ext cx="3566160" cy="402336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103120"/>
            <a:ext cx="35661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155680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29260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everything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Reassigns / changes priority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any legal transition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 design, in one picture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389120" y="1920240"/>
            <a:ext cx="3474720" cy="914400"/>
          </a:xfrm>
          <a:prstGeom prst="rect">
            <a:avLst/>
          </a:prstGeom>
          <a:solidFill>
            <a:srgbClr val="F7F9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abstract 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username · password · role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338328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63140" y="3383280"/>
            <a:ext cx="3863340" cy="-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338328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ServiceAgent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03620" y="3383280"/>
            <a:ext cx="22860" cy="-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3383280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44100" y="3383280"/>
            <a:ext cx="-3817620" cy="-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4297680"/>
            <a:ext cx="3474720" cy="1280160"/>
          </a:xfrm>
          <a:prstGeom prst="rect">
            <a:avLst/>
          </a:prstGeom>
          <a:solidFill>
            <a:srgbClr val="F7F9FB"/>
          </a:solidFill>
          <a:ln w="19050">
            <a:solidFill>
              <a:srgbClr val="2E8B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4343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transitionTo(Status)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assign(ServiceAgent)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isOverdue() : boolean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4389120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0" y="4892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part-of the Request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4937760"/>
            <a:ext cx="914400" cy="0"/>
          </a:xfrm>
          <a:prstGeom prst="line">
            <a:avLst/>
          </a:prstGeom>
          <a:noFill/>
          <a:ln w="19050">
            <a:solidFill>
              <a:srgbClr val="2E8B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 1..*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4754880"/>
            <a:ext cx="-960120" cy="-109728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566160" y="4297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4297680"/>
            <a:ext cx="0" cy="-36576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199632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5760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a placeholder in the hierarchy (Session 5).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0560" y="5760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lives only inside a Request (Session 6).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5760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work with User; subclasses specialize.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Requests follow a tested state machine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0175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 w="19050">
            <a:solidFill>
              <a:srgbClr val="B1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1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30175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 w="19050">
            <a:solidFill>
              <a:srgbClr val="1F7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30175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 w="19050">
            <a:solidFill>
              <a:srgbClr val="5B61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7373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 w="19050">
            <a:solidFill>
              <a:srgbClr val="B1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1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WAITING_FOR_INFO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3337560"/>
            <a:ext cx="457200" cy="0"/>
          </a:xfrm>
          <a:prstGeom prst="line">
            <a:avLst/>
          </a:prstGeom>
          <a:noFill/>
          <a:ln w="1905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80560" y="3337560"/>
            <a:ext cx="457200" cy="0"/>
          </a:xfrm>
          <a:prstGeom prst="line">
            <a:avLst/>
          </a:prstGeom>
          <a:noFill/>
          <a:ln w="1905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3337560"/>
            <a:ext cx="457200" cy="0"/>
          </a:xfrm>
          <a:prstGeom prst="line">
            <a:avLst/>
          </a:prstGeom>
          <a:noFill/>
          <a:ln w="1905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3337560"/>
            <a:ext cx="457200" cy="0"/>
          </a:xfrm>
          <a:prstGeom prst="line">
            <a:avLst/>
          </a:prstGeom>
          <a:noFill/>
          <a:ln w="19050">
            <a:solidFill>
              <a:srgbClr val="5B61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77840" y="3017520"/>
            <a:ext cx="0" cy="-640080"/>
          </a:xfrm>
          <a:prstGeom prst="line">
            <a:avLst/>
          </a:prstGeom>
          <a:noFill/>
          <a:ln w="15240">
            <a:solidFill>
              <a:srgbClr val="B16A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2377440"/>
            <a:ext cx="0" cy="640080"/>
          </a:xfrm>
          <a:prstGeom prst="line">
            <a:avLst/>
          </a:prstGeom>
          <a:noFill/>
          <a:ln w="15240">
            <a:solidFill>
              <a:srgbClr val="B16A00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0" y="25146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info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25146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5196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26680" y="3657600"/>
            <a:ext cx="0" cy="457200"/>
          </a:xfrm>
          <a:prstGeom prst="line">
            <a:avLst/>
          </a:prstGeom>
          <a:noFill/>
          <a:ln w="12700">
            <a:solidFill>
              <a:srgbClr val="B3261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726680" y="4114800"/>
            <a:ext cx="-2011680" cy="0"/>
          </a:xfrm>
          <a:prstGeom prst="line">
            <a:avLst/>
          </a:prstGeom>
          <a:noFill/>
          <a:ln w="12700">
            <a:solidFill>
              <a:srgbClr val="B3261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715000" y="4114800"/>
            <a:ext cx="0" cy="-457200"/>
          </a:xfrm>
          <a:prstGeom prst="line">
            <a:avLst/>
          </a:prstGeom>
          <a:noFill/>
          <a:ln w="12700">
            <a:solidFill>
              <a:srgbClr val="B3261E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8064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120640"/>
            <a:ext cx="73152" cy="1097280"/>
          </a:xfrm>
          <a:prstGeom prst="rect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live in the domain class, not in the service.  </a:t>
            </a:r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Request.ALLOWED_TRANSITIONS is an immutable map; Request.transitionTo() throws InvalidStatusTransitionException on any illegal move. Ten JUnit tests exhaust every edge — skip, terminal, reopen, unassign.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tables. Zero ORM magic.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03120"/>
            <a:ext cx="3566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↳ EMP / AGENT / MGR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1031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03120"/>
            <a:ext cx="3566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6974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· description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· priority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submitter_id  (FK)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assignee_id   (FK, nullable)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/ updated / resolved / closed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21031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03120"/>
            <a:ext cx="3566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26974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(PK)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  (FK, CASCADE)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author_id   (FK)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D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3566160" cy="118872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486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JDBC, not JPA?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852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readable. No reflection. One-third the dependency weight.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5394960"/>
            <a:ext cx="3566160" cy="118872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5486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SQLite?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5852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on disk. No install. Ships with the jar.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5394960"/>
            <a:ext cx="3566160" cy="118872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41080" y="5486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CASCADE?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41080" y="5852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request, its comments go with it — the composition from the class diagram, enforced at the DB.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SOLID, applied where it hurts most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31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Responsibility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codebase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214884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service / repository / web — strict separation.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31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Open/Closed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codebase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297180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Category or repo impl without touching existing code.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731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Liskov Substitution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codebase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379476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subclass works anywhere; any RequestRepository too.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731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720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4590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Segregation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4937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codebase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461772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repos — not one giant Repository&lt;T&gt;.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394960"/>
            <a:ext cx="731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3949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554480" y="5413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Inversion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5760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codebase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544068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depend on interfaces. Tests swap in a HashMap.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Forty-six tests, across three tiers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54480" y="2103120"/>
            <a:ext cx="36576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tests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JUnit, no collaborators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3246120"/>
            <a:ext cx="4572000" cy="1005840"/>
          </a:xfrm>
          <a:prstGeom prst="rect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46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tests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tests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repository fakes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5486400" cy="1005840"/>
          </a:xfrm>
          <a:prstGeom prst="rect">
            <a:avLst/>
          </a:prstGeom>
          <a:solidFill>
            <a:srgbClr val="1F7A3C"/>
          </a:solidFill>
          <a:ln w="12700">
            <a:solidFill>
              <a:srgbClr val="1F7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891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tests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SQLite in JUnit @TempDir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0" y="20116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2E8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14000" dirty="0"/>
          </a:p>
        </p:txBody>
      </p:sp>
      <p:sp>
        <p:nvSpPr>
          <p:cNvPr id="13" name="Text 11"/>
          <p:cNvSpPr/>
          <p:nvPr/>
        </p:nvSpPr>
        <p:spPr>
          <a:xfrm>
            <a:off x="749808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methods in the suite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complete in &lt; 3 seconds.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tested: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layer (thin glue), password hashing (plain-text is scoped out), concurrency (single-writer SQLite), performance (no relevant cliff).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deliberately chose simplicity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1612880" cy="64008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Javalin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jar. Boots in &lt; 1 s. Every line explainable.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154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No install. Ships with the jar.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612880" cy="64008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JDBC + repos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840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reflection magic. Repository interfaces buy us the swap-ability JPA would sell.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Plain-text passwords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4526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out — one-line upgrade in AuthService when we want it.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612880" cy="64008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12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HTML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5212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5212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text blocks are enough. One fewer dependency.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— full lifecycle in two minutes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in as emp1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4871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sees only his own requests — role-filtered at the service layer.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084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a new request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4871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Category · Priority. Status: NEW.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410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in as manager1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8130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sees everything. Reassigns the ticket to agent2.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429000"/>
            <a:ext cx="640080" cy="64008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23760" y="3410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in as agent2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38130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progresses: ASSIGNED → IN_PROGRESS → RESOLVED.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54880"/>
            <a:ext cx="640080" cy="64008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47365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back in as emp1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1389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confirms and closes the resolved ticket.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754880"/>
            <a:ext cx="640080" cy="64008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23760" y="47365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SQLite file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3760" y="51389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state is three tables on disk — no surprises.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package &amp;&amp; java -jar target/srs.jar</a:t>
            </a:r>
            <a:pPr algn="ctr" indent="0" marL="0">
              <a:buNone/>
            </a:pPr>
            <a:r>
              <a:rPr lang="en-US" sz="14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opens at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http://localhost:7070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 to build and run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00" cy="173736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109728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945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DEPENDENCIES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5486400" cy="173736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03120"/>
            <a:ext cx="109728" cy="1737360"/>
          </a:xfrm>
          <a:prstGeom prst="rect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945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 MB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72084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JAR SIZE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486400" cy="173736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14800"/>
            <a:ext cx="109728" cy="1737360"/>
          </a:xfrm>
          <a:prstGeom prst="rect">
            <a:avLst/>
          </a:prstGeom>
          <a:solidFill>
            <a:srgbClr val="1F7A3C"/>
          </a:solidFill>
          <a:ln w="12700">
            <a:solidFill>
              <a:srgbClr val="1F7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06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F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s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96012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REQUEST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5486400" cy="1737360"/>
          </a:xfrm>
          <a:prstGeom prst="rect">
            <a:avLst/>
          </a:prstGeom>
          <a:solidFill>
            <a:srgbClr val="F7F9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114800"/>
            <a:ext cx="109728" cy="1737360"/>
          </a:xfrm>
          <a:prstGeom prst="rect">
            <a:avLst/>
          </a:prstGeom>
          <a:solidFill>
            <a:srgbClr val="B16A00"/>
          </a:solidFill>
          <a:ln w="12700">
            <a:solidFill>
              <a:srgbClr val="B16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206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1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672084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 RUN 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320040" cy="320040"/>
          </a:xfrm>
          <a:prstGeom prst="ellipse">
            <a:avLst/>
          </a:prstGeom>
          <a:solidFill>
            <a:srgbClr val="2E8B93"/>
          </a:solidFill>
          <a:ln w="12700">
            <a:solidFill>
              <a:srgbClr val="2E8B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468880"/>
            <a:ext cx="107286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open the code, run any scenario, or walk through the tests.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Service Request Management System</dc:title>
  <dc:subject>PptxGenJS Presentation</dc:subject>
  <dc:creator>Systems Development — Group Project</dc:creator>
  <cp:lastModifiedBy>Systems Development — Group Project</cp:lastModifiedBy>
  <cp:revision>1</cp:revision>
  <dcterms:created xsi:type="dcterms:W3CDTF">2026-04-24T06:32:38Z</dcterms:created>
  <dcterms:modified xsi:type="dcterms:W3CDTF">2026-04-24T06:32:38Z</dcterms:modified>
</cp:coreProperties>
</file>